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498848"/>
            <a:ext cx="12191695" cy="1828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FB6D9"/>
                </a:solidFill>
                <a:latin typeface="Helvetica Neue"/>
                <a:ea typeface="PingFang SC"/>
              </a:rPr>
              <a:t>项目分享 · 可打印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454335" y="347472"/>
            <a:ext cx="1234440" cy="402336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454335" y="411480"/>
            <a:ext cx="1234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B2A4A"/>
                </a:solidFill>
                <a:latin typeface="Helvetica Neue"/>
                <a:ea typeface="PingFang SC"/>
              </a:rPr>
              <a:t>v8.5.3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118585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 i="0">
                <a:solidFill>
                  <a:srgbClr val="FFFFFF"/>
                </a:solidFill>
                <a:latin typeface="Helvetica Neue"/>
                <a:ea typeface="PingFang SC"/>
              </a:rPr>
              <a:t>Polymarket 全自动交易机器人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450592"/>
            <a:ext cx="1118585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C9A227"/>
                </a:solidFill>
                <a:latin typeface="Helvetica Neue"/>
                <a:ea typeface="PingFang SC"/>
              </a:rPr>
              <a:t>AI 选仓、程序全自动下单盯盘的真钱实验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054096"/>
            <a:ext cx="111858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9FB6D9"/>
                </a:solidFill>
                <a:latin typeface="Helvetica Neue"/>
                <a:ea typeface="PingFang SC"/>
              </a:rPr>
              <a:t>预测市场 · 智谱 GLM 当分析师 · 定时自动扫描/选品/下单/盯盘/出场 · 零人工 · 半自动老项目的私有 fork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639312"/>
            <a:ext cx="111858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DA3C6"/>
                </a:solidFill>
                <a:latin typeface="Helvetica Neue"/>
                <a:ea typeface="PingFang SC"/>
              </a:rPr>
              <a:t>生成于 2026 年 7 月 20 日 · 封面数据为生成时刻实时快照 · 不构成任何投资建议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4892040"/>
            <a:ext cx="2631871" cy="960120"/>
          </a:xfrm>
          <a:prstGeom prst="roundRect">
            <a:avLst>
              <a:gd name="adj" fmla="val 12000"/>
            </a:avLst>
          </a:prstGeom>
          <a:solidFill>
            <a:srgbClr val="243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6072" y="5038344"/>
            <a:ext cx="248556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Helvetica Neue"/>
                <a:ea typeface="PingFang SC"/>
              </a:rPr>
              <a:t>$92.06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" y="5468112"/>
            <a:ext cx="248556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FB6D9"/>
                </a:solidFill>
                <a:latin typeface="Helvetica Neue"/>
                <a:ea typeface="PingFang SC"/>
              </a:rPr>
              <a:t>主账户总值 (实时)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54247" y="4892040"/>
            <a:ext cx="2631871" cy="960120"/>
          </a:xfrm>
          <a:prstGeom prst="roundRect">
            <a:avLst>
              <a:gd name="adj" fmla="val 12000"/>
            </a:avLst>
          </a:prstGeom>
          <a:solidFill>
            <a:srgbClr val="243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27399" y="5038344"/>
            <a:ext cx="248556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Helvetica Neue"/>
                <a:ea typeface="PingFang SC"/>
              </a:rPr>
              <a:t>29 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7399" y="5468112"/>
            <a:ext cx="248556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FB6D9"/>
                </a:solidFill>
                <a:latin typeface="Helvetica Neue"/>
                <a:ea typeface="PingFang SC"/>
              </a:rPr>
              <a:t>当前持仓 · 浮盈 +$5.08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5575" y="4892040"/>
            <a:ext cx="2631871" cy="960120"/>
          </a:xfrm>
          <a:prstGeom prst="roundRect">
            <a:avLst>
              <a:gd name="adj" fmla="val 12000"/>
            </a:avLst>
          </a:prstGeom>
          <a:solidFill>
            <a:srgbClr val="243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78727" y="5038344"/>
            <a:ext cx="248556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Helvetica Neue"/>
                <a:ea typeface="PingFang SC"/>
              </a:rPr>
              <a:t>62 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78727" y="5468112"/>
            <a:ext cx="248556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FB6D9"/>
                </a:solidFill>
                <a:latin typeface="Helvetica Neue"/>
                <a:ea typeface="PingFang SC"/>
              </a:rPr>
              <a:t>已平仓 · 合计 −$3.03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56903" y="4892040"/>
            <a:ext cx="2631871" cy="960120"/>
          </a:xfrm>
          <a:prstGeom prst="roundRect">
            <a:avLst>
              <a:gd name="adj" fmla="val 12000"/>
            </a:avLst>
          </a:prstGeom>
          <a:solidFill>
            <a:srgbClr val="243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30055" y="5038344"/>
            <a:ext cx="248556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Helvetica Neue"/>
                <a:ea typeface="PingFang SC"/>
              </a:rPr>
              <a:t>v8.5 三账户实验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30055" y="5468112"/>
            <a:ext cx="248556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FB6D9"/>
                </a:solidFill>
                <a:latin typeface="Helvetica Neue"/>
                <a:ea typeface="PingFang SC"/>
              </a:rPr>
              <a:t>同信号跑三种策略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74320"/>
            <a:ext cx="77724" cy="42062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4088" y="109728"/>
            <a:ext cx="1118585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FB6D9"/>
                </a:solidFill>
                <a:latin typeface="Helvetica Neue"/>
                <a:ea typeface="PingFang SC"/>
              </a:rPr>
              <a:t>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329184"/>
            <a:ext cx="1118585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150" b="1" i="0">
                <a:solidFill>
                  <a:srgbClr val="FFFFFF"/>
                </a:solidFill>
                <a:latin typeface="Helvetica Neue"/>
                <a:ea typeface="PingFang SC"/>
              </a:rPr>
              <a:t>目录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46520"/>
            <a:ext cx="11185855" cy="12801"/>
          </a:xfrm>
          <a:prstGeom prst="rect">
            <a:avLst/>
          </a:prstGeom>
          <a:solidFill>
            <a:srgbClr val="D5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3A3"/>
                </a:solidFill>
                <a:latin typeface="Helvetica Neue"/>
                <a:ea typeface="PingFang SC"/>
              </a:rPr>
              <a:t>Polymarket AUTO 全自动交易 · 项目分享 v8.5.3 · 2026-07-24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45575" y="6510528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3A3"/>
                </a:solidFill>
                <a:latin typeface="Helvetica Neue"/>
                <a:ea typeface="PingFang SC"/>
              </a:rPr>
              <a:t>第 02 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371600"/>
            <a:ext cx="539496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300" b="1" i="0">
                <a:solidFill>
                  <a:srgbClr val="C9A227"/>
                </a:solidFill>
                <a:latin typeface="Menlo"/>
                <a:ea typeface="PingFang SC"/>
              </a:rPr>
              <a:t>01</a:t>
            </a:r>
            <a:r>
              <a:rPr sz="1300" b="0" i="0">
                <a:solidFill>
                  <a:srgbClr val="222B36"/>
                </a:solidFill>
                <a:latin typeface="Helvetica Neue"/>
                <a:ea typeface="PingFang SC"/>
              </a:rPr>
              <a:t>   这是个什么项目</a:t>
            </a:r>
            <a:r>
              <a:rPr sz="1050" b="0" i="0">
                <a:solidFill>
                  <a:srgbClr val="8A93A3"/>
                </a:solidFill>
                <a:latin typeface="Helvetica Neue"/>
                <a:ea typeface="PingFang SC"/>
              </a:rPr>
              <a:t>   ·  P3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300" b="1" i="0">
                <a:solidFill>
                  <a:srgbClr val="C9A227"/>
                </a:solidFill>
                <a:latin typeface="Menlo"/>
                <a:ea typeface="PingFang SC"/>
              </a:rPr>
              <a:t>02</a:t>
            </a:r>
            <a:r>
              <a:rPr sz="1300" b="0" i="0">
                <a:solidFill>
                  <a:srgbClr val="222B36"/>
                </a:solidFill>
                <a:latin typeface="Helvetica Neue"/>
                <a:ea typeface="PingFang SC"/>
              </a:rPr>
              <a:t>   上线两周的真实运行</a:t>
            </a:r>
            <a:r>
              <a:rPr sz="1050" b="0" i="0">
                <a:solidFill>
                  <a:srgbClr val="8A93A3"/>
                </a:solidFill>
                <a:latin typeface="Helvetica Neue"/>
                <a:ea typeface="PingFang SC"/>
              </a:rPr>
              <a:t>   ·  P4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300" b="1" i="0">
                <a:solidFill>
                  <a:srgbClr val="C9A227"/>
                </a:solidFill>
                <a:latin typeface="Menlo"/>
                <a:ea typeface="PingFang SC"/>
              </a:rPr>
              <a:t>03</a:t>
            </a:r>
            <a:r>
              <a:rPr sz="1300" b="0" i="0">
                <a:solidFill>
                  <a:srgbClr val="222B36"/>
                </a:solidFill>
                <a:latin typeface="Helvetica Neue"/>
                <a:ea typeface="PingFang SC"/>
              </a:rPr>
              <a:t>   系统总览 — 全自动一条龙</a:t>
            </a:r>
            <a:r>
              <a:rPr sz="1050" b="0" i="0">
                <a:solidFill>
                  <a:srgbClr val="8A93A3"/>
                </a:solidFill>
                <a:latin typeface="Helvetica Neue"/>
                <a:ea typeface="PingFang SC"/>
              </a:rPr>
              <a:t>   ·  P5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300" b="1" i="0">
                <a:solidFill>
                  <a:srgbClr val="C9A227"/>
                </a:solidFill>
                <a:latin typeface="Menlo"/>
                <a:ea typeface="PingFang SC"/>
              </a:rPr>
              <a:t>04</a:t>
            </a:r>
            <a:r>
              <a:rPr sz="1300" b="0" i="0">
                <a:solidFill>
                  <a:srgbClr val="222B36"/>
                </a:solidFill>
                <a:latin typeface="Helvetica Neue"/>
                <a:ea typeface="PingFang SC"/>
              </a:rPr>
              <a:t>   止盈 — 什么时候锁定利润</a:t>
            </a:r>
            <a:r>
              <a:rPr sz="1050" b="0" i="0">
                <a:solidFill>
                  <a:srgbClr val="8A93A3"/>
                </a:solidFill>
                <a:latin typeface="Helvetica Neue"/>
                <a:ea typeface="PingFang SC"/>
              </a:rPr>
              <a:t>   ·  P6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300" b="1" i="0">
                <a:solidFill>
                  <a:srgbClr val="C9A227"/>
                </a:solidFill>
                <a:latin typeface="Menlo"/>
                <a:ea typeface="PingFang SC"/>
              </a:rPr>
              <a:t>05</a:t>
            </a:r>
            <a:r>
              <a:rPr sz="1300" b="0" i="0">
                <a:solidFill>
                  <a:srgbClr val="222B36"/>
                </a:solidFill>
                <a:latin typeface="Helvetica Neue"/>
                <a:ea typeface="PingFang SC"/>
              </a:rPr>
              <a:t>   止损 — 什么时候认输离场</a:t>
            </a:r>
            <a:r>
              <a:rPr sz="1050" b="0" i="0">
                <a:solidFill>
                  <a:srgbClr val="8A93A3"/>
                </a:solidFill>
                <a:latin typeface="Helvetica Neue"/>
                <a:ea typeface="PingFang SC"/>
              </a:rPr>
              <a:t>   ·  P7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300" b="1" i="0">
                <a:solidFill>
                  <a:srgbClr val="C9A227"/>
                </a:solidFill>
                <a:latin typeface="Menlo"/>
                <a:ea typeface="PingFang SC"/>
              </a:rPr>
              <a:t>06</a:t>
            </a:r>
            <a:r>
              <a:rPr sz="1300" b="0" i="0">
                <a:solidFill>
                  <a:srgbClr val="222B36"/>
                </a:solidFill>
                <a:latin typeface="Helvetica Neue"/>
                <a:ea typeface="PingFang SC"/>
              </a:rPr>
              <a:t>   其他出场 &amp; 每 40 秒的决策顺序</a:t>
            </a:r>
            <a:r>
              <a:rPr sz="1050" b="0" i="0">
                <a:solidFill>
                  <a:srgbClr val="8A93A3"/>
                </a:solidFill>
                <a:latin typeface="Helvetica Neue"/>
                <a:ea typeface="PingFang SC"/>
              </a:rPr>
              <a:t>   ·  P8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300" b="1" i="0">
                <a:solidFill>
                  <a:srgbClr val="C9A227"/>
                </a:solidFill>
                <a:latin typeface="Menlo"/>
                <a:ea typeface="PingFang SC"/>
              </a:rPr>
              <a:t>07</a:t>
            </a:r>
            <a:r>
              <a:rPr sz="1300" b="0" i="0">
                <a:solidFill>
                  <a:srgbClr val="222B36"/>
                </a:solidFill>
                <a:latin typeface="Helvetica Neue"/>
                <a:ea typeface="PingFang SC"/>
              </a:rPr>
              <a:t>   找新仓 — 全自动 GLM 选品</a:t>
            </a:r>
            <a:r>
              <a:rPr sz="1050" b="0" i="0">
                <a:solidFill>
                  <a:srgbClr val="8A93A3"/>
                </a:solidFill>
                <a:latin typeface="Helvetica Neue"/>
                <a:ea typeface="PingFang SC"/>
              </a:rPr>
              <a:t>   ·  P9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300" b="1" i="0">
                <a:solidFill>
                  <a:srgbClr val="C9A227"/>
                </a:solidFill>
                <a:latin typeface="Menlo"/>
                <a:ea typeface="PingFang SC"/>
              </a:rPr>
              <a:t>08</a:t>
            </a:r>
            <a:r>
              <a:rPr sz="1300" b="0" i="0">
                <a:solidFill>
                  <a:srgbClr val="222B36"/>
                </a:solidFill>
                <a:latin typeface="Helvetica Neue"/>
                <a:ea typeface="PingFang SC"/>
              </a:rPr>
              <a:t>   分流规则 — 真买还是进测试仓</a:t>
            </a:r>
            <a:r>
              <a:rPr sz="1050" b="0" i="0">
                <a:solidFill>
                  <a:srgbClr val="8A93A3"/>
                </a:solidFill>
                <a:latin typeface="Helvetica Neue"/>
                <a:ea typeface="PingFang SC"/>
              </a:rPr>
              <a:t>   ·  P10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371600"/>
            <a:ext cx="539496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300" b="1" i="0">
                <a:solidFill>
                  <a:srgbClr val="C9A227"/>
                </a:solidFill>
                <a:latin typeface="Menlo"/>
                <a:ea typeface="PingFang SC"/>
              </a:rPr>
              <a:t>09</a:t>
            </a:r>
            <a:r>
              <a:rPr sz="1300" b="0" i="0">
                <a:solidFill>
                  <a:srgbClr val="222B36"/>
                </a:solidFill>
                <a:latin typeface="Helvetica Neue"/>
                <a:ea typeface="PingFang SC"/>
              </a:rPr>
              <a:t>   新仓金额 — 一笔下多少钱</a:t>
            </a:r>
            <a:r>
              <a:rPr sz="1050" b="0" i="0">
                <a:solidFill>
                  <a:srgbClr val="8A93A3"/>
                </a:solidFill>
                <a:latin typeface="Helvetica Neue"/>
                <a:ea typeface="PingFang SC"/>
              </a:rPr>
              <a:t>   ·  P11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300" b="1" i="0">
                <a:solidFill>
                  <a:srgbClr val="C9A227"/>
                </a:solidFill>
                <a:latin typeface="Menlo"/>
                <a:ea typeface="PingFang SC"/>
              </a:rPr>
              <a:t>10</a:t>
            </a:r>
            <a:r>
              <a:rPr sz="1300" b="0" i="0">
                <a:solidFill>
                  <a:srgbClr val="222B36"/>
                </a:solidFill>
                <a:latin typeface="Helvetica Neue"/>
                <a:ea typeface="PingFang SC"/>
              </a:rPr>
              <a:t>   自动重评 ① 什么时候触发</a:t>
            </a:r>
            <a:r>
              <a:rPr sz="1050" b="0" i="0">
                <a:solidFill>
                  <a:srgbClr val="8A93A3"/>
                </a:solidFill>
                <a:latin typeface="Helvetica Neue"/>
                <a:ea typeface="PingFang SC"/>
              </a:rPr>
              <a:t>   ·  P12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300" b="1" i="0">
                <a:solidFill>
                  <a:srgbClr val="C9A227"/>
                </a:solidFill>
                <a:latin typeface="Menlo"/>
                <a:ea typeface="PingFang SC"/>
              </a:rPr>
              <a:t>11</a:t>
            </a:r>
            <a:r>
              <a:rPr sz="1300" b="0" i="0">
                <a:solidFill>
                  <a:srgbClr val="222B36"/>
                </a:solidFill>
                <a:latin typeface="Helvetica Neue"/>
                <a:ea typeface="PingFang SC"/>
              </a:rPr>
              <a:t>   自动重评 ② 怎么决定、谁执行</a:t>
            </a:r>
            <a:r>
              <a:rPr sz="1050" b="0" i="0">
                <a:solidFill>
                  <a:srgbClr val="8A93A3"/>
                </a:solidFill>
                <a:latin typeface="Helvetica Neue"/>
                <a:ea typeface="PingFang SC"/>
              </a:rPr>
              <a:t>   ·  P13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300" b="1" i="0">
                <a:solidFill>
                  <a:srgbClr val="C9A227"/>
                </a:solidFill>
                <a:latin typeface="Menlo"/>
                <a:ea typeface="PingFang SC"/>
              </a:rPr>
              <a:t>12</a:t>
            </a:r>
            <a:r>
              <a:rPr sz="1300" b="0" i="0">
                <a:solidFill>
                  <a:srgbClr val="222B36"/>
                </a:solidFill>
                <a:latin typeface="Helvetica Neue"/>
                <a:ea typeface="PingFang SC"/>
              </a:rPr>
              <a:t>   用哪个 AI — GLM 主 / Claude 兜底</a:t>
            </a:r>
            <a:r>
              <a:rPr sz="1050" b="0" i="0">
                <a:solidFill>
                  <a:srgbClr val="8A93A3"/>
                </a:solidFill>
                <a:latin typeface="Helvetica Neue"/>
                <a:ea typeface="PingFang SC"/>
              </a:rPr>
              <a:t>   ·  P14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300" b="1" i="0">
                <a:solidFill>
                  <a:srgbClr val="C9A227"/>
                </a:solidFill>
                <a:latin typeface="Menlo"/>
                <a:ea typeface="PingFang SC"/>
              </a:rPr>
              <a:t>13</a:t>
            </a:r>
            <a:r>
              <a:rPr sz="1300" b="0" i="0">
                <a:solidFill>
                  <a:srgbClr val="222B36"/>
                </a:solidFill>
                <a:latin typeface="Helvetica Neue"/>
                <a:ea typeface="PingFang SC"/>
              </a:rPr>
              <a:t>   钱的总规矩 — 风控红线</a:t>
            </a:r>
            <a:r>
              <a:rPr sz="1050" b="0" i="0">
                <a:solidFill>
                  <a:srgbClr val="8A93A3"/>
                </a:solidFill>
                <a:latin typeface="Helvetica Neue"/>
                <a:ea typeface="PingFang SC"/>
              </a:rPr>
              <a:t>   ·  P15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300" b="1" i="0">
                <a:solidFill>
                  <a:srgbClr val="C9A227"/>
                </a:solidFill>
                <a:latin typeface="Menlo"/>
                <a:ea typeface="PingFang SC"/>
              </a:rPr>
              <a:t>14</a:t>
            </a:r>
            <a:r>
              <a:rPr sz="1300" b="0" i="0">
                <a:solidFill>
                  <a:srgbClr val="222B36"/>
                </a:solidFill>
                <a:latin typeface="Helvetica Neue"/>
                <a:ea typeface="PingFang SC"/>
              </a:rPr>
              <a:t>   测试仓 — 不花钱的模拟盘</a:t>
            </a:r>
            <a:r>
              <a:rPr sz="1050" b="0" i="0">
                <a:solidFill>
                  <a:srgbClr val="8A93A3"/>
                </a:solidFill>
                <a:latin typeface="Helvetica Neue"/>
                <a:ea typeface="PingFang SC"/>
              </a:rPr>
              <a:t>   ·  P16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300" b="1" i="0">
                <a:solidFill>
                  <a:srgbClr val="C9A227"/>
                </a:solidFill>
                <a:latin typeface="Menlo"/>
                <a:ea typeface="PingFang SC"/>
              </a:rPr>
              <a:t>15</a:t>
            </a:r>
            <a:r>
              <a:rPr sz="1300" b="0" i="0">
                <a:solidFill>
                  <a:srgbClr val="222B36"/>
                </a:solidFill>
                <a:latin typeface="Helvetica Neue"/>
                <a:ea typeface="PingFang SC"/>
              </a:rPr>
              <a:t>   来历 &amp; 版本演进</a:t>
            </a:r>
            <a:r>
              <a:rPr sz="1050" b="0" i="0">
                <a:solidFill>
                  <a:srgbClr val="8A93A3"/>
                </a:solidFill>
                <a:latin typeface="Helvetica Neue"/>
                <a:ea typeface="PingFang SC"/>
              </a:rPr>
              <a:t>   ·  P17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300" b="1" i="0">
                <a:solidFill>
                  <a:srgbClr val="C9A227"/>
                </a:solidFill>
                <a:latin typeface="Menlo"/>
                <a:ea typeface="PingFang SC"/>
              </a:rPr>
              <a:t>16</a:t>
            </a:r>
            <a:r>
              <a:rPr sz="1300" b="0" i="0">
                <a:solidFill>
                  <a:srgbClr val="222B36"/>
                </a:solidFill>
                <a:latin typeface="Helvetica Neue"/>
                <a:ea typeface="PingFang SC"/>
              </a:rPr>
              <a:t>   踩过的坑 &amp; 诚实的现状</a:t>
            </a:r>
            <a:r>
              <a:rPr sz="1050" b="0" i="0">
                <a:solidFill>
                  <a:srgbClr val="8A93A3"/>
                </a:solidFill>
                <a:latin typeface="Helvetica Neue"/>
                <a:ea typeface="PingFang SC"/>
              </a:rPr>
              <a:t>   ·  P18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5257800"/>
            <a:ext cx="5285232" cy="1005840"/>
          </a:xfrm>
          <a:prstGeom prst="roundRect">
            <a:avLst>
              <a:gd name="adj" fmla="val 8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0" y="5340096"/>
            <a:ext cx="68580" cy="841248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20256" y="5349240"/>
            <a:ext cx="4901184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30" b="1" i="0">
                <a:solidFill>
                  <a:srgbClr val="2E74B5"/>
                </a:solidFill>
                <a:latin typeface="Helvetica Neue"/>
                <a:ea typeface="PingFang SC"/>
              </a:rPr>
              <a:t>快速读法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130" b="0" i="0">
                <a:solidFill>
                  <a:srgbClr val="222B36"/>
                </a:solidFill>
                <a:latin typeface="Helvetica Neue"/>
                <a:ea typeface="PingFang SC"/>
              </a:rPr>
              <a:t>只想看结论 → P4 运行 + P18 踩坑与现状; 想懂机制 → P5–P14 流水线与出场重评;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130" b="0" i="0">
                <a:solidFill>
                  <a:srgbClr val="222B36"/>
                </a:solidFill>
                <a:latin typeface="Helvetica Neue"/>
                <a:ea typeface="PingFang SC"/>
              </a:rPr>
              <a:t>想自己跑 → P19 (公开的是它的半自动前身, 同一套策略内核)。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74320"/>
            <a:ext cx="77724" cy="42062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4088" y="109728"/>
            <a:ext cx="1118585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FB6D9"/>
                </a:solidFill>
                <a:latin typeface="Helvetica Neue"/>
                <a:ea typeface="PingFang SC"/>
              </a:rPr>
              <a:t>01 · 项目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329184"/>
            <a:ext cx="1118585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150" b="1" i="0">
                <a:solidFill>
                  <a:srgbClr val="FFFFFF"/>
                </a:solidFill>
                <a:latin typeface="Helvetica Neue"/>
                <a:ea typeface="PingFang SC"/>
              </a:rPr>
              <a:t>这是个什么项目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46520"/>
            <a:ext cx="11185855" cy="12801"/>
          </a:xfrm>
          <a:prstGeom prst="rect">
            <a:avLst/>
          </a:prstGeom>
          <a:solidFill>
            <a:srgbClr val="D5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3A3"/>
                </a:solidFill>
                <a:latin typeface="Helvetica Neue"/>
                <a:ea typeface="PingFang SC"/>
              </a:rPr>
              <a:t>Polymarket AUTO 全自动交易 · 项目分享 v8.5.3 · 2026-07-24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45575" y="6510528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3A3"/>
                </a:solidFill>
                <a:latin typeface="Helvetica Neue"/>
                <a:ea typeface="PingFang SC"/>
              </a:rPr>
              <a:t>第 03 页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097280"/>
            <a:ext cx="11185855" cy="1170432"/>
          </a:xfrm>
          <a:prstGeom prst="roundRect">
            <a:avLst>
              <a:gd name="adj" fmla="val 8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179576"/>
            <a:ext cx="68580" cy="100584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2376" y="1188720"/>
            <a:ext cx="10801807" cy="9875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30" b="1" i="0">
                <a:solidFill>
                  <a:srgbClr val="2E74B5"/>
                </a:solidFill>
                <a:latin typeface="Helvetica Neue"/>
                <a:ea typeface="PingFang SC"/>
              </a:rPr>
              <a:t>先说 Polymarket 是什么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180" b="0" i="0">
                <a:solidFill>
                  <a:srgbClr val="222B36"/>
                </a:solidFill>
                <a:latin typeface="Helvetica Neue"/>
                <a:ea typeface="PingFang SC"/>
              </a:rPr>
              <a:t>一个用真钱给现实事件下注的预测市场。每道题是一张 $0–1 的合约: 事件发生 = $1, 没发生 = $0;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180" b="0" i="0">
                <a:solidFill>
                  <a:srgbClr val="222B36"/>
                </a:solidFill>
                <a:latin typeface="Helvetica Neue"/>
                <a:ea typeface="PingFang SC"/>
              </a:rPr>
              <a:t>现价就是市场眼里的概率 — 一张 $0.72 的"星舰 7 月发射成功?" = 市场认为 72% 会发射。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180" b="0" i="0">
                <a:solidFill>
                  <a:srgbClr val="222B36"/>
                </a:solidFill>
                <a:latin typeface="Helvetica Neue"/>
                <a:ea typeface="PingFang SC"/>
              </a:rPr>
              <a:t>题目包罗万象: 地缘政治、选举、公司大事、加密、甚至"某城市今天最高温是不是 33°C"。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487168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B2A4A"/>
                </a:solidFill>
                <a:latin typeface="Helvetica Neue"/>
                <a:ea typeface="PingFang SC"/>
              </a:rPr>
              <a:t>这个实验: 让 AI 找"市场标错概率的题", 用写死的纪律全自动把认知差变成钱 — 人不插手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871216"/>
            <a:ext cx="3582314" cy="914400"/>
          </a:xfrm>
          <a:prstGeom prst="roundRect">
            <a:avLst>
              <a:gd name="adj" fmla="val 12000"/>
            </a:avLst>
          </a:prstGeom>
          <a:solidFill>
            <a:srgbClr val="F5F7FA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6072" y="3017520"/>
            <a:ext cx="343601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2A4A"/>
                </a:solidFill>
                <a:latin typeface="Helvetica Neue"/>
                <a:ea typeface="PingFang SC"/>
              </a:rPr>
              <a:t>AI (智谱 GLM)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" y="3401568"/>
            <a:ext cx="343601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707F"/>
                </a:solidFill>
                <a:latin typeface="Helvetica Neue"/>
                <a:ea typeface="PingFang SC"/>
              </a:rPr>
              <a:t>分析师 — 联网搜新闻, 估真实胜率 q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04690" y="2871216"/>
            <a:ext cx="3582314" cy="914400"/>
          </a:xfrm>
          <a:prstGeom prst="roundRect">
            <a:avLst>
              <a:gd name="adj" fmla="val 12000"/>
            </a:avLst>
          </a:prstGeom>
          <a:solidFill>
            <a:srgbClr val="F5F7FA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77842" y="3017520"/>
            <a:ext cx="343601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2A4A"/>
                </a:solidFill>
                <a:latin typeface="Helvetica Neue"/>
                <a:ea typeface="PingFang SC"/>
              </a:rPr>
              <a:t>程序 (bot)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77842" y="3401568"/>
            <a:ext cx="343601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707F"/>
                </a:solidFill>
                <a:latin typeface="Helvetica Neue"/>
                <a:ea typeface="PingFang SC"/>
              </a:rPr>
              <a:t>交易员 — 自动扫描/下单/每40秒盯盘/出场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06460" y="2871216"/>
            <a:ext cx="3582314" cy="914400"/>
          </a:xfrm>
          <a:prstGeom prst="roundRect">
            <a:avLst>
              <a:gd name="adj" fmla="val 12000"/>
            </a:avLst>
          </a:prstGeom>
          <a:solidFill>
            <a:srgbClr val="F5F7FA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79612" y="3017520"/>
            <a:ext cx="343601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2A4A"/>
                </a:solidFill>
                <a:latin typeface="Helvetica Neue"/>
                <a:ea typeface="PingFang SC"/>
              </a:rPr>
              <a:t>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79612" y="3401568"/>
            <a:ext cx="343601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707F"/>
                </a:solidFill>
                <a:latin typeface="Helvetica Neue"/>
                <a:ea typeface="PingFang SC"/>
              </a:rPr>
              <a:t>定规则的 — 只设死规矩, 偶尔看盘, 不下单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4114800"/>
            <a:ext cx="111858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000"/>
              </a:spcAft>
            </a:pPr>
            <a:r>
              <a:rPr sz="126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260" b="1" i="0">
                <a:solidFill>
                  <a:srgbClr val="222B36"/>
                </a:solidFill>
                <a:latin typeface="Helvetica Neue"/>
                <a:ea typeface="PingFang SC"/>
              </a:rPr>
              <a:t>思路: </a:t>
            </a:r>
            <a:r>
              <a:rPr sz="1260" b="0" i="0">
                <a:solidFill>
                  <a:srgbClr val="222B36"/>
                </a:solidFill>
                <a:latin typeface="Helvetica Neue"/>
                <a:ea typeface="PingFang SC"/>
              </a:rPr>
              <a:t>市场价 = 人群的概率判断, 会系统性出错 (冷门被高估、新闻消化慢)。GLM 读盘面+搜新闻给出自己的胜率 q, 跟市场价差得够大才下手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000"/>
              </a:spcAft>
            </a:pPr>
            <a:r>
              <a:rPr sz="126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260" b="1" i="0">
                <a:solidFill>
                  <a:srgbClr val="222B36"/>
                </a:solidFill>
                <a:latin typeface="Helvetica Neue"/>
                <a:ea typeface="PingFang SC"/>
              </a:rPr>
              <a:t>全自动: </a:t>
            </a:r>
            <a:r>
              <a:rPr sz="1260" b="0" i="0">
                <a:solidFill>
                  <a:srgbClr val="222B36"/>
                </a:solidFill>
                <a:latin typeface="Helvetica Neue"/>
                <a:ea typeface="PingFang SC"/>
              </a:rPr>
              <a:t>定时扫描 → GLM 选品 → 写死规则分流 → 自动买入 → 盯盘 → 定时/大跌自动重评 → 自动出场, 全程零人工 (老半自动版是人工下单, 这个把最后那步也交给了程序)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000"/>
              </a:spcAft>
            </a:pPr>
            <a:r>
              <a:rPr sz="126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260" b="1" i="0">
                <a:solidFill>
                  <a:srgbClr val="222B36"/>
                </a:solidFill>
                <a:latin typeface="Helvetica Neue"/>
                <a:ea typeface="PingFang SC"/>
              </a:rPr>
              <a:t>规模: </a:t>
            </a:r>
            <a:r>
              <a:rPr sz="1260" b="0" i="0">
                <a:solidFill>
                  <a:srgbClr val="222B36"/>
                </a:solidFill>
                <a:latin typeface="Helvetica Neue"/>
                <a:ea typeface="PingFang SC"/>
              </a:rPr>
              <a:t>小资金实验 (账户 ~$51, 单仓 $1–15) — 目的是验证"全自动闭环"和纪律, 不是发财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000"/>
              </a:spcAft>
            </a:pPr>
            <a:r>
              <a:rPr sz="126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260" b="1" i="0">
                <a:solidFill>
                  <a:srgbClr val="222B36"/>
                </a:solidFill>
                <a:latin typeface="Helvetica Neue"/>
                <a:ea typeface="PingFang SC"/>
              </a:rPr>
              <a:t>来历: </a:t>
            </a:r>
            <a:r>
              <a:rPr sz="1260" b="0" i="0">
                <a:solidFill>
                  <a:srgbClr val="222B36"/>
                </a:solidFill>
                <a:latin typeface="Helvetica Neue"/>
                <a:ea typeface="PingFang SC"/>
              </a:rPr>
              <a:t>2026-07-06 从一个跑了两个月、久经踩坑打磨的半自动项目 fork 而来, 继承其成熟出场策略 (P17)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74320"/>
            <a:ext cx="77724" cy="42062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4088" y="109728"/>
            <a:ext cx="1118585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FB6D9"/>
                </a:solidFill>
                <a:latin typeface="Helvetica Neue"/>
                <a:ea typeface="PingFang SC"/>
              </a:rPr>
              <a:t>02 · 运行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329184"/>
            <a:ext cx="1118585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150" b="1" i="0">
                <a:solidFill>
                  <a:srgbClr val="FFFFFF"/>
                </a:solidFill>
                <a:latin typeface="Helvetica Neue"/>
                <a:ea typeface="PingFang SC"/>
              </a:rPr>
              <a:t>上线 16 天的真实运行 (截至 2026-07-24)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46520"/>
            <a:ext cx="11185855" cy="12801"/>
          </a:xfrm>
          <a:prstGeom prst="rect">
            <a:avLst/>
          </a:prstGeom>
          <a:solidFill>
            <a:srgbClr val="D5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3A3"/>
                </a:solidFill>
                <a:latin typeface="Helvetica Neue"/>
                <a:ea typeface="PingFang SC"/>
              </a:rPr>
              <a:t>Polymarket AUTO 全自动交易 · 项目分享 v8.5.3 · 2026-07-24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45575" y="6510528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3A3"/>
                </a:solidFill>
                <a:latin typeface="Helvetica Neue"/>
                <a:ea typeface="PingFang SC"/>
              </a:rPr>
              <a:t>第 04 页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097280"/>
            <a:ext cx="2631871" cy="868680"/>
          </a:xfrm>
          <a:prstGeom prst="roundRect">
            <a:avLst>
              <a:gd name="adj" fmla="val 12000"/>
            </a:avLst>
          </a:prstGeom>
          <a:solidFill>
            <a:srgbClr val="F5F7FA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6072" y="1243584"/>
            <a:ext cx="248556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B2A4A"/>
                </a:solidFill>
                <a:latin typeface="Helvetica Neue"/>
                <a:ea typeface="PingFang SC"/>
              </a:rPr>
              <a:t>16 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" y="1581912"/>
            <a:ext cx="248556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707F"/>
                </a:solidFill>
                <a:latin typeface="Helvetica Neue"/>
                <a:ea typeface="PingFang SC"/>
              </a:rPr>
              <a:t>全自动真单 (自 07-08)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54247" y="1097280"/>
            <a:ext cx="2631871" cy="868680"/>
          </a:xfrm>
          <a:prstGeom prst="roundRect">
            <a:avLst>
              <a:gd name="adj" fmla="val 12000"/>
            </a:avLst>
          </a:prstGeom>
          <a:solidFill>
            <a:srgbClr val="F5F7FA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27399" y="1243584"/>
            <a:ext cx="248556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B2A4A"/>
                </a:solidFill>
                <a:latin typeface="Helvetica Neue"/>
                <a:ea typeface="PingFang SC"/>
              </a:rPr>
              <a:t>62 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7399" y="1581912"/>
            <a:ext cx="248556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707F"/>
                </a:solidFill>
                <a:latin typeface="Helvetica Neue"/>
                <a:ea typeface="PingFang SC"/>
              </a:rPr>
              <a:t>已平仓 · 合计 −$3.03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05575" y="1097280"/>
            <a:ext cx="2631871" cy="868680"/>
          </a:xfrm>
          <a:prstGeom prst="roundRect">
            <a:avLst>
              <a:gd name="adj" fmla="val 12000"/>
            </a:avLst>
          </a:prstGeom>
          <a:solidFill>
            <a:srgbClr val="F5F7FA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78727" y="1243584"/>
            <a:ext cx="248556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B2A4A"/>
                </a:solidFill>
                <a:latin typeface="Helvetica Neue"/>
                <a:ea typeface="PingFang SC"/>
              </a:rPr>
              <a:t>止盈 +$12.9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78727" y="1581912"/>
            <a:ext cx="248556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707F"/>
                </a:solidFill>
                <a:latin typeface="Helvetica Neue"/>
                <a:ea typeface="PingFang SC"/>
              </a:rPr>
              <a:t>被止损/重评 −$15.9 抵掉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56903" y="1097280"/>
            <a:ext cx="2631871" cy="868680"/>
          </a:xfrm>
          <a:prstGeom prst="roundRect">
            <a:avLst>
              <a:gd name="adj" fmla="val 12000"/>
            </a:avLst>
          </a:prstGeom>
          <a:solidFill>
            <a:srgbClr val="F5F7FA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30055" y="1243584"/>
            <a:ext cx="248556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B2A4A"/>
                </a:solidFill>
                <a:latin typeface="Helvetica Neue"/>
                <a:ea typeface="PingFang SC"/>
              </a:rPr>
              <a:t>29 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30055" y="1581912"/>
            <a:ext cx="248556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707F"/>
                </a:solidFill>
                <a:latin typeface="Helvetica Neue"/>
                <a:ea typeface="PingFang SC"/>
              </a:rPr>
              <a:t>当前持仓 · 浮盈 +$5.08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502920" y="2194560"/>
          <a:ext cx="11183112" cy="206654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297680"/>
                <a:gridCol w="1371600"/>
                <a:gridCol w="1828800"/>
                <a:gridCol w="3685032"/>
              </a:tblGrid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20" b="1" i="0">
                          <a:solidFill>
                            <a:srgbClr val="FFFFFF"/>
                          </a:solidFill>
                          <a:latin typeface="Helvetica Neue"/>
                          <a:ea typeface="PingFang SC"/>
                        </a:rPr>
                        <a:t>已平仓 62 笔 · 挑几笔真实记录</a:t>
                      </a:r>
                    </a:p>
                  </a:txBody>
                  <a:tcPr anchor="ctr" marL="91440" marR="64008" marT="27432" marB="27432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20" b="1" i="0">
                          <a:solidFill>
                            <a:srgbClr val="FFFFFF"/>
                          </a:solidFill>
                          <a:latin typeface="Helvetica Neue"/>
                          <a:ea typeface="PingFang SC"/>
                        </a:rPr>
                        <a:t>方向</a:t>
                      </a:r>
                    </a:p>
                  </a:txBody>
                  <a:tcPr anchor="ctr" marL="91440" marR="64008" marT="27432" marB="27432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20" b="1" i="0">
                          <a:solidFill>
                            <a:srgbClr val="FFFFFF"/>
                          </a:solidFill>
                          <a:latin typeface="Helvetica Neue"/>
                          <a:ea typeface="PingFang SC"/>
                        </a:rPr>
                        <a:t>结果</a:t>
                      </a:r>
                    </a:p>
                  </a:txBody>
                  <a:tcPr anchor="ctr" marL="91440" marR="64008" marT="27432" marB="27432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20" b="1" i="0">
                          <a:solidFill>
                            <a:srgbClr val="FFFFFF"/>
                          </a:solidFill>
                          <a:latin typeface="Helvetica Neue"/>
                          <a:ea typeface="PingFang SC"/>
                        </a:rPr>
                        <a:t>出场方式</a:t>
                      </a:r>
                    </a:p>
                  </a:txBody>
                  <a:tcPr anchor="ctr" marL="91440" marR="64008" marT="27432" marB="27432">
                    <a:solidFill>
                      <a:srgbClr val="1B2A4A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20" b="1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Gemini 发布 (两笔 NO 各卖半)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2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NO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2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+$2.22 ×2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2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事件型 0.92 卖一半 / 半仓保护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20" b="1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Gemini 发布 (反方向 YES 那笔)</a:t>
                      </a:r>
                    </a:p>
                  </a:txBody>
                  <a:tcPr anchor="ctr" marL="91440" marR="64008" marT="27432" marB="27432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2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YES</a:t>
                      </a:r>
                    </a:p>
                  </a:txBody>
                  <a:tcPr anchor="ctr" marL="91440" marR="64008" marT="27432" marB="27432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2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−$2.60</a:t>
                      </a:r>
                    </a:p>
                  </a:txBody>
                  <a:tcPr anchor="ctr" marL="91440" marR="64008" marT="27432" marB="27432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2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自动重评判 exit → 离线自动卖</a:t>
                      </a:r>
                    </a:p>
                  </a:txBody>
                  <a:tcPr anchor="ctr" marL="91440" marR="64008" marT="27432" marB="27432">
                    <a:solidFill>
                      <a:srgbClr val="F3F5F9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20" b="1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美国宣布封锁 (US blockade)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2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NO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2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−$1.99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2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止损: 一路跌到地板 $0.05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20" b="1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Elon 身价区间 (收敛型)</a:t>
                      </a:r>
                    </a:p>
                  </a:txBody>
                  <a:tcPr anchor="ctr" marL="91440" marR="64008" marT="27432" marB="27432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2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NO</a:t>
                      </a:r>
                    </a:p>
                  </a:txBody>
                  <a:tcPr anchor="ctr" marL="91440" marR="64008" marT="27432" marB="27432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2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−$0.85</a:t>
                      </a:r>
                    </a:p>
                  </a:txBody>
                  <a:tcPr anchor="ctr" marL="91440" marR="64008" marT="27432" marB="27432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2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收敛移动止损 → 直接平仓 (v8.3)</a:t>
                      </a:r>
                    </a:p>
                  </a:txBody>
                  <a:tcPr anchor="ctr" marL="91440" marR="64008" marT="27432" marB="27432">
                    <a:solidFill>
                      <a:srgbClr val="F3F5F9"/>
                    </a:solidFill>
                  </a:tcPr>
                </a:tc>
              </a:tr>
            </a:tbl>
          </a:graphicData>
        </a:graphic>
      </p:graphicFrame>
      <p:sp>
        <p:nvSpPr>
          <p:cNvPr id="22" name="Rounded Rectangle 21"/>
          <p:cNvSpPr/>
          <p:nvPr/>
        </p:nvSpPr>
        <p:spPr>
          <a:xfrm>
            <a:off x="502920" y="4370832"/>
            <a:ext cx="11185855" cy="1188720"/>
          </a:xfrm>
          <a:prstGeom prst="roundRect">
            <a:avLst>
              <a:gd name="adj" fmla="val 8000"/>
            </a:avLst>
          </a:prstGeom>
          <a:solidFill>
            <a:srgbClr val="E3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4453128"/>
            <a:ext cx="68580" cy="1024128"/>
          </a:xfrm>
          <a:prstGeom prst="rect">
            <a:avLst/>
          </a:prstGeom>
          <a:solidFill>
            <a:srgbClr val="1E7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2376" y="4462272"/>
            <a:ext cx="10801807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30" b="1" i="0">
                <a:solidFill>
                  <a:srgbClr val="1E7B4F"/>
                </a:solidFill>
                <a:latin typeface="Helvetica Neue"/>
                <a:ea typeface="PingFang SC"/>
              </a:rPr>
              <a:t>过去两天, 规则真的在自己开火 (bot 日志原文)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130" b="0" i="0">
                <a:solidFill>
                  <a:srgbClr val="222B36"/>
                </a:solidFill>
                <a:latin typeface="Helvetica Neue"/>
                <a:ea typeface="PingFang SC"/>
              </a:rPr>
              <a:t>07-20 13:35  事件型止盈 — 美国解除 CAATSA 制裁 No 涨到 best_bid ≥ $0.92 → 自动卖一半留一半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130" b="0" i="0">
                <a:solidFill>
                  <a:srgbClr val="222B36"/>
                </a:solidFill>
                <a:latin typeface="Helvetica Neue"/>
                <a:ea typeface="PingFang SC"/>
              </a:rPr>
              <a:t>07-20 09:50  收敛移动止损 — Elon 身价 No 从峰值回撤够 → 直接平仓 (v8.3 收敛也不再交重评)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130" b="0" i="0">
                <a:solidFill>
                  <a:srgbClr val="222B36"/>
                </a:solidFill>
                <a:latin typeface="Helvetica Neue"/>
                <a:ea typeface="PingFang SC"/>
              </a:rPr>
              <a:t>07-19 07:08  自动重评判 exit — 下个 Claude Opus 发布 判 exit → 离线自动清仓 (无人确认)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5742432"/>
            <a:ext cx="111858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150" b="1" i="0">
                <a:solidFill>
                  <a:srgbClr val="222B36"/>
                </a:solidFill>
                <a:latin typeface="Helvetica Neue"/>
                <a:ea typeface="PingFang SC"/>
              </a:rPr>
              <a:t>诚实提醒: </a:t>
            </a:r>
            <a:r>
              <a:rPr sz="1150" b="0" i="0">
                <a:solidFill>
                  <a:srgbClr val="222B36"/>
                </a:solidFill>
                <a:latin typeface="Helvetica Neue"/>
                <a:ea typeface="PingFang SC"/>
              </a:rPr>
              <a:t>16 天、62 笔平仓合计 −$3.03 (止盈 +$12.9 被止损/重评 −$15.9 抵掉) = 目前小幅亏损。样本仍小、别当业绩; 这页真正证明的是"全自动闭环在无人干预下自己跑通了", 且已扩成三账户同信号实验 (主策略/bench基准/低价拿到底) 用真钱找最优出场 (P18 讲现状)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74320"/>
            <a:ext cx="77724" cy="42062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4088" y="109728"/>
            <a:ext cx="1118585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FB6D9"/>
                </a:solidFill>
                <a:latin typeface="Helvetica Neue"/>
                <a:ea typeface="PingFang SC"/>
              </a:rPr>
              <a:t>03 · 系统总览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329184"/>
            <a:ext cx="1118585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150" b="1" i="0">
                <a:solidFill>
                  <a:srgbClr val="FFFFFF"/>
                </a:solidFill>
                <a:latin typeface="Helvetica Neue"/>
                <a:ea typeface="PingFang SC"/>
              </a:rPr>
              <a:t>一页看懂: 全自动一条龙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46520"/>
            <a:ext cx="11185855" cy="12801"/>
          </a:xfrm>
          <a:prstGeom prst="rect">
            <a:avLst/>
          </a:prstGeom>
          <a:solidFill>
            <a:srgbClr val="D5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3A3"/>
                </a:solidFill>
                <a:latin typeface="Helvetica Neue"/>
                <a:ea typeface="PingFang SC"/>
              </a:rPr>
              <a:t>Polymarket AUTO 全自动交易 · 项目分享 v8.5.3 · 2026-07-24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45575" y="6510528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3A3"/>
                </a:solidFill>
                <a:latin typeface="Helvetica Neue"/>
                <a:ea typeface="PingFang SC"/>
              </a:rPr>
              <a:t>第 05 页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170432"/>
            <a:ext cx="1681429" cy="1097280"/>
          </a:xfrm>
          <a:prstGeom prst="roundRect">
            <a:avLst>
              <a:gd name="adj" fmla="val 10000"/>
            </a:avLst>
          </a:prstGeom>
          <a:solidFill>
            <a:srgbClr val="243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7784" y="1289304"/>
            <a:ext cx="1571701" cy="8595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Helvetica Neue"/>
                <a:ea typeface="PingFang SC"/>
              </a:rPr>
              <a:t>① 定时扫描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C9D6EC"/>
                </a:solidFill>
                <a:latin typeface="Helvetica Neue"/>
                <a:ea typeface="PingFang SC"/>
              </a:rPr>
              <a:t>09:00 / 21:00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C9D6EC"/>
                </a:solidFill>
                <a:latin typeface="Helvetica Neue"/>
                <a:ea typeface="PingFang SC"/>
              </a:rPr>
              <a:t>中范围 · 26 tag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84349" y="1572768"/>
            <a:ext cx="219456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E74B5"/>
                </a:solidFill>
                <a:latin typeface="Helvetica Neue"/>
                <a:ea typeface="PingFang SC"/>
              </a:rPr>
              <a:t>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403805" y="1170432"/>
            <a:ext cx="1681429" cy="1097280"/>
          </a:xfrm>
          <a:prstGeom prst="roundRect">
            <a:avLst>
              <a:gd name="adj" fmla="val 10000"/>
            </a:avLst>
          </a:prstGeom>
          <a:solidFill>
            <a:srgbClr val="243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58669" y="1289304"/>
            <a:ext cx="1571701" cy="8595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Helvetica Neue"/>
                <a:ea typeface="PingFang SC"/>
              </a:rPr>
              <a:t>② GLM 选品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C9D6EC"/>
                </a:solidFill>
                <a:latin typeface="Helvetica Neue"/>
                <a:ea typeface="PingFang SC"/>
              </a:rPr>
              <a:t>多轮自主搜索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C9D6EC"/>
                </a:solidFill>
                <a:latin typeface="Helvetica Neue"/>
                <a:ea typeface="PingFang SC"/>
              </a:rPr>
              <a:t>出 JSON 推荐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85234" y="1572768"/>
            <a:ext cx="219456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E74B5"/>
                </a:solidFill>
                <a:latin typeface="Helvetica Neue"/>
                <a:ea typeface="PingFang SC"/>
              </a:rPr>
              <a:t>➜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04690" y="1170432"/>
            <a:ext cx="1681429" cy="1097280"/>
          </a:xfrm>
          <a:prstGeom prst="roundRect">
            <a:avLst>
              <a:gd name="adj" fmla="val 10000"/>
            </a:avLst>
          </a:prstGeom>
          <a:solidFill>
            <a:srgbClr val="243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59554" y="1289304"/>
            <a:ext cx="1571701" cy="8595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Helvetica Neue"/>
                <a:ea typeface="PingFang SC"/>
              </a:rPr>
              <a:t>③ 规则分流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C9D6EC"/>
                </a:solidFill>
                <a:latin typeface="Helvetica Neue"/>
                <a:ea typeface="PingFang SC"/>
              </a:rPr>
              <a:t>0.40&lt;p&lt;0.85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C9D6EC"/>
                </a:solidFill>
                <a:latin typeface="Helvetica Neue"/>
                <a:ea typeface="PingFang SC"/>
              </a:rPr>
              <a:t>→真买 / 否则测试仓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86119" y="1572768"/>
            <a:ext cx="219456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E74B5"/>
                </a:solidFill>
                <a:latin typeface="Helvetica Neue"/>
                <a:ea typeface="PingFang SC"/>
              </a:rPr>
              <a:t>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05575" y="1170432"/>
            <a:ext cx="1681429" cy="1097280"/>
          </a:xfrm>
          <a:prstGeom prst="roundRect">
            <a:avLst>
              <a:gd name="adj" fmla="val 10000"/>
            </a:avLst>
          </a:prstGeom>
          <a:solidFill>
            <a:srgbClr val="243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60439" y="1289304"/>
            <a:ext cx="1571701" cy="8595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Helvetica Neue"/>
                <a:ea typeface="PingFang SC"/>
              </a:rPr>
              <a:t>④ 自动买入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C9D6EC"/>
                </a:solidFill>
                <a:latin typeface="Helvetica Neue"/>
                <a:ea typeface="PingFang SC"/>
              </a:rPr>
              <a:t>sizing 公式金额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C9D6EC"/>
                </a:solidFill>
                <a:latin typeface="Helvetica Neue"/>
                <a:ea typeface="PingFang SC"/>
              </a:rPr>
              <a:t>无需人工下单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87004" y="1572768"/>
            <a:ext cx="219456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E74B5"/>
                </a:solidFill>
                <a:latin typeface="Helvetica Neue"/>
                <a:ea typeface="PingFang SC"/>
              </a:rPr>
              <a:t>➜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06460" y="1170432"/>
            <a:ext cx="1681429" cy="1097280"/>
          </a:xfrm>
          <a:prstGeom prst="roundRect">
            <a:avLst>
              <a:gd name="adj" fmla="val 10000"/>
            </a:avLst>
          </a:prstGeom>
          <a:solidFill>
            <a:srgbClr val="243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61324" y="1289304"/>
            <a:ext cx="1571701" cy="8595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Helvetica Neue"/>
                <a:ea typeface="PingFang SC"/>
              </a:rPr>
              <a:t>⑤ 盯盘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C9D6EC"/>
                </a:solidFill>
                <a:latin typeface="Helvetica Neue"/>
                <a:ea typeface="PingFang SC"/>
              </a:rPr>
              <a:t>每 ~40 秒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C9D6EC"/>
                </a:solidFill>
                <a:latin typeface="Helvetica Neue"/>
                <a:ea typeface="PingFang SC"/>
              </a:rPr>
              <a:t>该卖自动卖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87889" y="1572768"/>
            <a:ext cx="219456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E74B5"/>
                </a:solidFill>
                <a:latin typeface="Helvetica Neue"/>
                <a:ea typeface="PingFang SC"/>
              </a:rPr>
              <a:t>➜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007345" y="1170432"/>
            <a:ext cx="1681429" cy="1097280"/>
          </a:xfrm>
          <a:prstGeom prst="roundRect">
            <a:avLst>
              <a:gd name="adj" fmla="val 10000"/>
            </a:avLst>
          </a:prstGeom>
          <a:solidFill>
            <a:srgbClr val="243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62209" y="1289304"/>
            <a:ext cx="1571701" cy="8595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Helvetica Neue"/>
                <a:ea typeface="PingFang SC"/>
              </a:rPr>
              <a:t>⑥ 自动重评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C9D6EC"/>
                </a:solidFill>
                <a:latin typeface="Helvetica Neue"/>
                <a:ea typeface="PingFang SC"/>
              </a:rPr>
              <a:t>每日15:00 / 大跌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C9D6EC"/>
                </a:solidFill>
                <a:latin typeface="Helvetica Neue"/>
                <a:ea typeface="PingFang SC"/>
              </a:rPr>
              <a:t>/ 反向推荐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2578608"/>
            <a:ext cx="111858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250" b="1" i="0">
                <a:solidFill>
                  <a:srgbClr val="222B36"/>
                </a:solidFill>
                <a:latin typeface="Helvetica Neue"/>
                <a:ea typeface="PingFang SC"/>
              </a:rPr>
              <a:t>分工: </a:t>
            </a:r>
            <a:r>
              <a:rPr sz="1250" b="0" i="0">
                <a:solidFill>
                  <a:srgbClr val="222B36"/>
                </a:solidFill>
                <a:latin typeface="Helvetica Neue"/>
                <a:ea typeface="PingFang SC"/>
              </a:rPr>
              <a:t>GLM 出主意 (选品+重评) · bot 全自动扫描/下单/盯盘/出场 · 人只定死规则和偶尔看盘 — 买入卖出都不需要人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250" b="1" i="0">
                <a:solidFill>
                  <a:srgbClr val="222B36"/>
                </a:solidFill>
                <a:latin typeface="Helvetica Neue"/>
                <a:ea typeface="PingFang SC"/>
              </a:rPr>
              <a:t>买入也自动了: </a:t>
            </a:r>
            <a:r>
              <a:rPr sz="1250" b="0" i="0">
                <a:solidFill>
                  <a:srgbClr val="222B36"/>
                </a:solidFill>
                <a:latin typeface="Helvetica Neue"/>
                <a:ea typeface="PingFang SC"/>
              </a:rPr>
              <a:t>这是相对老半自动版最大的变化 — auto_trader 按写死规则自动下单; 老版本这一步是人工去 Polymarket 手动买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250" b="1" i="0">
                <a:solidFill>
                  <a:srgbClr val="222B36"/>
                </a:solidFill>
                <a:latin typeface="Helvetica Neue"/>
                <a:ea typeface="PingFang SC"/>
              </a:rPr>
              <a:t>节奏: </a:t>
            </a:r>
            <a:r>
              <a:rPr sz="1250" b="0" i="0">
                <a:solidFill>
                  <a:srgbClr val="222B36"/>
                </a:solidFill>
                <a:latin typeface="Helvetica Neue"/>
                <a:ea typeface="PingFang SC"/>
              </a:rPr>
              <a:t>扫描每天 2 次 · 盯盘睡 30 秒+干活约 10 秒 ≈ 实际 40 秒过一遍每仓 · 全仓巡检重评每天 1 次 (15:00) · 资产快照 30 分钟一次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250" b="1" i="0">
                <a:solidFill>
                  <a:srgbClr val="222B36"/>
                </a:solidFill>
                <a:latin typeface="Helvetica Neue"/>
                <a:ea typeface="PingFang SC"/>
              </a:rPr>
              <a:t>每个仓位买入时定好三件事, bot 全靠它们盯盘: </a:t>
            </a:r>
            <a:r>
              <a:rPr sz="1250" b="0" i="0">
                <a:solidFill>
                  <a:srgbClr val="222B36"/>
                </a:solidFill>
                <a:latin typeface="Helvetica Neue"/>
                <a:ea typeface="PingFang SC"/>
              </a:rPr>
              <a:t>胜率 q · 止损档 (三选一, 见下) · 主题簇 (防同类扎堆)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250" b="1" i="0">
                <a:solidFill>
                  <a:srgbClr val="222B36"/>
                </a:solidFill>
                <a:latin typeface="Helvetica Neue"/>
                <a:ea typeface="PingFang SC"/>
              </a:rPr>
              <a:t>几块屏: </a:t>
            </a:r>
            <a:r>
              <a:rPr sz="1250" b="0" i="0">
                <a:solidFill>
                  <a:srgbClr val="222B36"/>
                </a:solidFill>
                <a:latin typeface="Helvetica Neue"/>
                <a:ea typeface="PingFang SC"/>
              </a:rPr>
              <a:t>新首页看板 (按天战报+实时持仓) · /auto 选品清单 · /paper 测试仓 · /m 手机只读 · /history 往期复盘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5138928"/>
            <a:ext cx="11185855" cy="1115568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02920" y="5221224"/>
            <a:ext cx="68580" cy="950976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2376" y="5230368"/>
            <a:ext cx="10801807" cy="9326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30" b="1" i="0">
                <a:solidFill>
                  <a:srgbClr val="1B2A4A"/>
                </a:solidFill>
                <a:latin typeface="Helvetica Neue"/>
                <a:ea typeface="PingFang SC"/>
              </a:rPr>
              <a:t>三种止损档 (买入时 GLM 分类, 决定这个仓后面怎么止盈止损)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160" b="0" i="0">
                <a:solidFill>
                  <a:srgbClr val="222B36"/>
                </a:solidFill>
                <a:latin typeface="Helvetica Neue"/>
                <a:ea typeface="PingFang SC"/>
              </a:rPr>
              <a:t>收敛型 convergent = 真相会自己收敛的题 (数据/汇率/比分) · 混合型 hybrid = 民调+政治混合 (选举/加密)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160" b="0" i="0">
                <a:solidFill>
                  <a:srgbClr val="222B36"/>
                </a:solidFill>
                <a:latin typeface="Helvetica Neue"/>
                <a:ea typeface="PingFang SC"/>
              </a:rPr>
              <a:t>事件型 event_driven = 政治/外交/谈判 — 价格天天震荡但震荡≠真相变化, 所以规则对它最宽容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74320"/>
            <a:ext cx="77724" cy="42062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4088" y="109728"/>
            <a:ext cx="1118585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FB6D9"/>
                </a:solidFill>
                <a:latin typeface="Helvetica Neue"/>
                <a:ea typeface="PingFang SC"/>
              </a:rPr>
              <a:t>04 · 出场策略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329184"/>
            <a:ext cx="1118585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150" b="1" i="0">
                <a:solidFill>
                  <a:srgbClr val="FFFFFF"/>
                </a:solidFill>
                <a:latin typeface="Helvetica Neue"/>
                <a:ea typeface="PingFang SC"/>
              </a:rPr>
              <a:t>止盈 — 什么时候锁定利润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46520"/>
            <a:ext cx="11185855" cy="12801"/>
          </a:xfrm>
          <a:prstGeom prst="rect">
            <a:avLst/>
          </a:prstGeom>
          <a:solidFill>
            <a:srgbClr val="D5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3A3"/>
                </a:solidFill>
                <a:latin typeface="Helvetica Neue"/>
                <a:ea typeface="PingFang SC"/>
              </a:rPr>
              <a:t>Polymarket AUTO 全自动交易 · 项目分享 v8.5.3 · 2026-07-24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45575" y="6510528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3A3"/>
                </a:solidFill>
                <a:latin typeface="Helvetica Neue"/>
                <a:ea typeface="PingFang SC"/>
              </a:rPr>
              <a:t>第 06 页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152144"/>
          <a:ext cx="11183112" cy="206654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200400"/>
                <a:gridCol w="3657600"/>
                <a:gridCol w="4325112"/>
              </a:tblGrid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Helvetica Neue"/>
                          <a:ea typeface="PingFang SC"/>
                        </a:rPr>
                        <a:t>仓位类型</a:t>
                      </a:r>
                    </a:p>
                  </a:txBody>
                  <a:tcPr anchor="ctr" marL="91440" marR="64008" marT="27432" marB="27432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Helvetica Neue"/>
                          <a:ea typeface="PingFang SC"/>
                        </a:rPr>
                        <a:t>触发条件 (按"真能卖到的价")</a:t>
                      </a:r>
                    </a:p>
                  </a:txBody>
                  <a:tcPr anchor="ctr" marL="91440" marR="64008" marT="27432" marB="27432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Helvetica Neue"/>
                          <a:ea typeface="PingFang SC"/>
                        </a:rPr>
                        <a:t>动作</a:t>
                      </a:r>
                    </a:p>
                  </a:txBody>
                  <a:tcPr anchor="ctr" marL="91440" marR="64008" marT="27432" marB="27432">
                    <a:solidFill>
                      <a:srgbClr val="1B2A4A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1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事件型 · 翻倍先到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卖价 ≥ 2×成本 (且早于 $0.92)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全部卖出锁翻倍 (低价入场时先到)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1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事件型 · 到 $0.92</a:t>
                      </a:r>
                    </a:p>
                  </a:txBody>
                  <a:tcPr anchor="ctr" marL="91440" marR="64008" marT="27432" marB="27432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卖价 ≥ $0.92 (还没翻倍)</a:t>
                      </a:r>
                    </a:p>
                  </a:txBody>
                  <a:tcPr anchor="ctr" marL="91440" marR="64008" marT="27432" marB="27432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卖一半留一半; 后半跌破 $0.78 再全卖</a:t>
                      </a:r>
                    </a:p>
                  </a:txBody>
                  <a:tcPr anchor="ctr" marL="91440" marR="64008" marT="27432" marB="27432">
                    <a:solidFill>
                      <a:srgbClr val="F3F5F9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1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收敛型 · 距结算 ≤3 天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卖价 ≥ $0.88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全部卖出 (提前落袋, 留出滑点)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1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收敛型 &gt;3 天 / 混合型</a:t>
                      </a:r>
                    </a:p>
                  </a:txBody>
                  <a:tcPr anchor="ctr" marL="91440" marR="64008" marT="27432" marB="27432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卖价 ≥ $0.90 或 浮盈 ≥ +100%</a:t>
                      </a:r>
                    </a:p>
                  </a:txBody>
                  <a:tcPr anchor="ctr" marL="91440" marR="64008" marT="27432" marB="27432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全部卖出</a:t>
                      </a:r>
                    </a:p>
                  </a:txBody>
                  <a:tcPr anchor="ctr" marL="91440" marR="64008" marT="27432" marB="27432">
                    <a:solidFill>
                      <a:srgbClr val="F3F5F9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02920" y="3611880"/>
            <a:ext cx="111858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</a:pPr>
            <a:r>
              <a:rPr sz="122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220" b="1" i="0">
                <a:solidFill>
                  <a:srgbClr val="222B36"/>
                </a:solidFill>
                <a:latin typeface="Helvetica Neue"/>
                <a:ea typeface="PingFang SC"/>
              </a:rPr>
              <a:t>为什么看"卖价"? </a:t>
            </a:r>
            <a:r>
              <a:rPr sz="1220" b="0" i="0">
                <a:solidFill>
                  <a:srgbClr val="222B36"/>
                </a:solidFill>
                <a:latin typeface="Helvetica Neue"/>
                <a:ea typeface="PingFang SC"/>
              </a:rPr>
              <a:t>触发用盘口买一价 best_bid (真能成交的价), 不用参考价 — 防"显示 $0.90 实际只能卖 $0.60"的假止盈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</a:pPr>
            <a:r>
              <a:rPr sz="122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220" b="1" i="0">
                <a:solidFill>
                  <a:srgbClr val="222B36"/>
                </a:solidFill>
                <a:latin typeface="Helvetica Neue"/>
                <a:ea typeface="PingFang SC"/>
              </a:rPr>
              <a:t>事件型这套怎么跑? </a:t>
            </a:r>
            <a:r>
              <a:rPr sz="1220" b="0" i="0">
                <a:solidFill>
                  <a:srgbClr val="222B36"/>
                </a:solidFill>
                <a:latin typeface="Helvetica Neue"/>
                <a:ea typeface="PingFang SC"/>
              </a:rPr>
              <a:t>论点没破常一路涨到底。低价捡的、翻倍(≥2×成本)先到 → 全卖落袋; 高价的到 $0.92 → 卖一半留一半博结算, 但留的半仓从 0.92 跌 15%(&lt;$0.78)就把后半也卖了锁利润, 不让它坐过山车吐回去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</a:pPr>
            <a:r>
              <a:rPr sz="122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220" b="1" i="0">
                <a:solidFill>
                  <a:srgbClr val="222B36"/>
                </a:solidFill>
                <a:latin typeface="Helvetica Neue"/>
                <a:ea typeface="PingFang SC"/>
              </a:rPr>
              <a:t>这套是继承老项目的: </a:t>
            </a:r>
            <a:r>
              <a:rPr sz="1220" b="0" i="0">
                <a:solidFill>
                  <a:srgbClr val="222B36"/>
                </a:solidFill>
                <a:latin typeface="Helvetica Neue"/>
                <a:ea typeface="PingFang SC"/>
              </a:rPr>
              <a:t>出场策略从老半自动项目原样同步 (v7.4.5), AUTO 一个字没改 — 久经真金实测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5138928"/>
            <a:ext cx="11185855" cy="1078992"/>
          </a:xfrm>
          <a:prstGeom prst="roundRect">
            <a:avLst>
              <a:gd name="adj" fmla="val 8000"/>
            </a:avLst>
          </a:prstGeom>
          <a:solidFill>
            <a:srgbClr val="E3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5221224"/>
            <a:ext cx="68580" cy="914400"/>
          </a:xfrm>
          <a:prstGeom prst="rect">
            <a:avLst/>
          </a:prstGeom>
          <a:solidFill>
            <a:srgbClr val="1E7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2376" y="5230368"/>
            <a:ext cx="10801807" cy="896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30" b="1" i="0">
                <a:solidFill>
                  <a:srgbClr val="1E7B4F"/>
                </a:solidFill>
                <a:latin typeface="Helvetica Neue"/>
                <a:ea typeface="PingFang SC"/>
              </a:rPr>
              <a:t>这两条 07-12 凌晨都真触发了 (AUTO 自己的单)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130" b="0" i="0">
                <a:solidFill>
                  <a:srgbClr val="222B36"/>
                </a:solidFill>
                <a:latin typeface="Helvetica Neue"/>
                <a:ea typeface="PingFang SC"/>
              </a:rPr>
              <a:t>00:23 Trump 骂人 (事件型) best_bid 跳到 $0.99 → 自动卖一半留一半; 37 分钟后价格回落, 01:00 留的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130" b="0" i="0">
                <a:solidFill>
                  <a:srgbClr val="222B36"/>
                </a:solidFill>
                <a:latin typeface="Helvetica Neue"/>
                <a:ea typeface="PingFang SC"/>
              </a:rPr>
              <a:t>后半跌到 $0.64 触发"半仓保护"全卖 — 前半 0.99、后半 0.64 都落了袋, 没坐过山车吐回成本。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74320"/>
            <a:ext cx="77724" cy="42062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4088" y="109728"/>
            <a:ext cx="1118585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FB6D9"/>
                </a:solidFill>
                <a:latin typeface="Helvetica Neue"/>
                <a:ea typeface="PingFang SC"/>
              </a:rPr>
              <a:t>05 · 出场策略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329184"/>
            <a:ext cx="1118585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150" b="1" i="0">
                <a:solidFill>
                  <a:srgbClr val="FFFFFF"/>
                </a:solidFill>
                <a:latin typeface="Helvetica Neue"/>
                <a:ea typeface="PingFang SC"/>
              </a:rPr>
              <a:t>止损 — 什么时候认输离场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46520"/>
            <a:ext cx="11185855" cy="12801"/>
          </a:xfrm>
          <a:prstGeom prst="rect">
            <a:avLst/>
          </a:prstGeom>
          <a:solidFill>
            <a:srgbClr val="D5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3A3"/>
                </a:solidFill>
                <a:latin typeface="Helvetica Neue"/>
                <a:ea typeface="PingFang SC"/>
              </a:rPr>
              <a:t>Polymarket AUTO 全自动交易 · 项目分享 v8.5.3 · 2026-07-24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45575" y="6510528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3A3"/>
                </a:solidFill>
                <a:latin typeface="Helvetica Neue"/>
                <a:ea typeface="PingFang SC"/>
              </a:rPr>
              <a:t>第 07 页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152144"/>
          <a:ext cx="11183112" cy="2286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51760"/>
                <a:gridCol w="4206240"/>
                <a:gridCol w="4325112"/>
              </a:tblGrid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Helvetica Neue"/>
                          <a:ea typeface="PingFang SC"/>
                        </a:rPr>
                        <a:t>仓位类型</a:t>
                      </a:r>
                    </a:p>
                  </a:txBody>
                  <a:tcPr anchor="ctr" marL="91440" marR="64008" marT="27432" marB="27432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Helvetica Neue"/>
                          <a:ea typeface="PingFang SC"/>
                        </a:rPr>
                        <a:t>止损方式</a:t>
                      </a:r>
                    </a:p>
                  </a:txBody>
                  <a:tcPr anchor="ctr" marL="91440" marR="64008" marT="27432" marB="27432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Helvetica Neue"/>
                          <a:ea typeface="PingFang SC"/>
                        </a:rPr>
                        <a:t>触发线</a:t>
                      </a:r>
                    </a:p>
                  </a:txBody>
                  <a:tcPr anchor="ctr" marL="91440" marR="64008" marT="27432" marB="27432">
                    <a:solidFill>
                      <a:srgbClr val="1B2A4A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1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收敛型 convergent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移动止损: 从"持有期最高价"回撤 → 直接平仓 (v8.3, 不再交重评)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回撤 ≥20% (距结算 ≤3 天收紧到 12%)</a:t>
                      </a:r>
                    </a:p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0" i="0">
                          <a:solidFill>
                            <a:srgbClr val="66707F"/>
                          </a:solidFill>
                          <a:latin typeface="Helvetica Neue"/>
                          <a:ea typeface="PingFang SC"/>
                        </a:rPr>
                        <a:t>且连续 6 次心跳 ≈3 分钟确认, 防一抖卖飞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1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混合型 hybrid</a:t>
                      </a:r>
                    </a:p>
                  </a:txBody>
                  <a:tcPr anchor="ctr" marL="91440" marR="64008" marT="27432" marB="27432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移动止损: 从峰值回撤; 砸穿→直接平仓 (v7.4.5, 不走重评)</a:t>
                      </a:r>
                    </a:p>
                  </a:txBody>
                  <a:tcPr anchor="ctr" marL="91440" marR="64008" marT="27432" marB="27432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回撤 ≥35% 且连续 6 次心跳确认</a:t>
                      </a:r>
                    </a:p>
                  </a:txBody>
                  <a:tcPr anchor="ctr" marL="91440" marR="64008" marT="27432" marB="27432">
                    <a:solidFill>
                      <a:srgbClr val="F3F5F9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1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事件型 event_driven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-50% 强行止损【直接平仓】+ $0.05 地板 (AUTO 2026-07-18)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亏 ≥50% → 直接平仓 (不走重评) 或 &lt; $0.05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1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未分类 (少见)</a:t>
                      </a:r>
                    </a:p>
                  </a:txBody>
                  <a:tcPr anchor="ctr" marL="91440" marR="64008" marT="27432" marB="27432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默认当"混合型"处理 (不再有 -25% 老仓档)</a:t>
                      </a:r>
                    </a:p>
                  </a:txBody>
                  <a:tcPr anchor="ctr" marL="91440" marR="64008" marT="27432" marB="27432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回撤 ≥35% (同混合型移动止损)</a:t>
                      </a:r>
                    </a:p>
                  </a:txBody>
                  <a:tcPr anchor="ctr" marL="91440" marR="64008" marT="27432" marB="27432">
                    <a:solidFill>
                      <a:srgbClr val="F3F5F9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502920" y="3785615"/>
            <a:ext cx="11185855" cy="868680"/>
          </a:xfrm>
          <a:prstGeom prst="roundRect">
            <a:avLst>
              <a:gd name="adj" fmla="val 8000"/>
            </a:avLst>
          </a:prstGeom>
          <a:solidFill>
            <a:srgbClr val="FBE7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3867911"/>
            <a:ext cx="68580" cy="704088"/>
          </a:xfrm>
          <a:prstGeom prst="rect">
            <a:avLst/>
          </a:prstGeom>
          <a:solidFill>
            <a:srgbClr val="B33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2376" y="3877055"/>
            <a:ext cx="10801807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30" b="1" i="0">
                <a:solidFill>
                  <a:srgbClr val="B3362B"/>
                </a:solidFill>
                <a:latin typeface="Helvetica Neue"/>
                <a:ea typeface="PingFang SC"/>
              </a:rPr>
              <a:t>砸穿止损线怎么处理 (AUTO v8.3 起: 三档一律直接平仓)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130" b="0" i="0">
                <a:solidFill>
                  <a:srgbClr val="222B36"/>
                </a:solidFill>
                <a:latin typeface="Helvetica Neue"/>
                <a:ea typeface="PingFang SC"/>
              </a:rPr>
              <a:t>收敛 / 混合 / 事件 砸穿止损线【直接平仓, 不走重评】(收敛=回撤20%、混合=回撤35%、事件=亏50%; 收敛 v8.3 从"先交重评"改成直接卖, 「⏸ 等重评」状态退役)。任何仓跌破 $0.05 地板 / 没档案 / 重评没配置 也直接卖。事件型的盘中重评改由"从最好点回撤 5pp"单独触发 (P10), 跟止损平仓是两条路。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864608"/>
            <a:ext cx="111858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</a:pPr>
            <a:r>
              <a:rPr sz="122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220" b="1" i="0">
                <a:solidFill>
                  <a:srgbClr val="222B36"/>
                </a:solidFill>
                <a:latin typeface="Helvetica Neue"/>
                <a:ea typeface="PingFang SC"/>
              </a:rPr>
              <a:t>两种止损口径: </a:t>
            </a:r>
            <a:r>
              <a:rPr sz="1220" b="0" i="0">
                <a:solidFill>
                  <a:srgbClr val="222B36"/>
                </a:solidFill>
                <a:latin typeface="Helvetica Neue"/>
                <a:ea typeface="PingFang SC"/>
              </a:rPr>
              <a:t>收敛型 + 混合型盯"持有期最高价"回撤 (移动止损); 事件型盯"成本价"(实时加权均价, 加仓自动摊平) 亏 50% 强行平仓。成本价永远用实时均价, 不用第一次入场价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</a:pPr>
            <a:r>
              <a:rPr sz="122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220" b="1" i="0">
                <a:solidFill>
                  <a:srgbClr val="222B36"/>
                </a:solidFill>
                <a:latin typeface="Helvetica Neue"/>
                <a:ea typeface="PingFang SC"/>
              </a:rPr>
              <a:t>事件型为什么改成 -50% 硬止损: </a:t>
            </a:r>
            <a:r>
              <a:rPr sz="1220" b="0" i="0">
                <a:solidFill>
                  <a:srgbClr val="222B36"/>
                </a:solidFill>
                <a:latin typeface="Helvetica Neue"/>
                <a:ea typeface="PingFang SC"/>
              </a:rPr>
              <a:t>原来给很松的 -60%+交重评 (政治题先砸后弹); 但回撤数据显示跌破约 -50% 基本"回不来"(不归点), 所以 2026-07-18 (用户最高指令) 改成 -50% 强行直接平仓, 任何东西越不过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</a:pPr>
            <a:r>
              <a:rPr sz="122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220" b="1" i="0">
                <a:solidFill>
                  <a:srgbClr val="222B36"/>
                </a:solidFill>
                <a:latin typeface="Helvetica Neue"/>
                <a:ea typeface="PingFang SC"/>
              </a:rPr>
              <a:t>AUTO 现在的持仓里就有: </a:t>
            </a:r>
            <a:r>
              <a:rPr sz="1220" b="0" i="0">
                <a:solidFill>
                  <a:srgbClr val="222B36"/>
                </a:solidFill>
                <a:latin typeface="Helvetica Neue"/>
                <a:ea typeface="PingFang SC"/>
              </a:rPr>
              <a:t>俄乌战线、美伊外交、莫斯科空管这些事件型; Trump 进世界杯冠军赛是收敛型; bitcoin 到 $1M 是混合型 — 各按各档盯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74320"/>
            <a:ext cx="77724" cy="42062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4088" y="109728"/>
            <a:ext cx="1118585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FB6D9"/>
                </a:solidFill>
                <a:latin typeface="Helvetica Neue"/>
                <a:ea typeface="PingFang SC"/>
              </a:rPr>
              <a:t>06 · 出场策略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329184"/>
            <a:ext cx="1118585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150" b="1" i="0">
                <a:solidFill>
                  <a:srgbClr val="FFFFFF"/>
                </a:solidFill>
                <a:latin typeface="Helvetica Neue"/>
                <a:ea typeface="PingFang SC"/>
              </a:rPr>
              <a:t>其他出场 &amp; 每 40 秒的决策顺序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46520"/>
            <a:ext cx="11185855" cy="12801"/>
          </a:xfrm>
          <a:prstGeom prst="rect">
            <a:avLst/>
          </a:prstGeom>
          <a:solidFill>
            <a:srgbClr val="D5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3A3"/>
                </a:solidFill>
                <a:latin typeface="Helvetica Neue"/>
                <a:ea typeface="PingFang SC"/>
              </a:rPr>
              <a:t>Polymarket AUTO 全自动交易 · 项目分享 v8.5.3 · 2026-07-24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45575" y="6510528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3A3"/>
                </a:solidFill>
                <a:latin typeface="Helvetica Neue"/>
                <a:ea typeface="PingFang SC"/>
              </a:rPr>
              <a:t>第 08 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115568"/>
            <a:ext cx="5669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40" b="1" i="0">
                <a:solidFill>
                  <a:srgbClr val="1B2A4A"/>
                </a:solidFill>
                <a:latin typeface="Helvetica Neue"/>
                <a:ea typeface="PingFang SC"/>
              </a:rPr>
              <a:t>每一轮 (约 40 秒) 对每个仓从上往下过一遍, 第一个命中的执行: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517904"/>
            <a:ext cx="5623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000"/>
              </a:spcAft>
            </a:pPr>
            <a:r>
              <a:rPr sz="1230" b="1" i="0">
                <a:solidFill>
                  <a:srgbClr val="C9A227"/>
                </a:solidFill>
                <a:latin typeface="Helvetica Neue"/>
                <a:ea typeface="PingFang SC"/>
              </a:rPr>
              <a:t>①  </a:t>
            </a:r>
            <a:r>
              <a:rPr sz="1230" b="1" i="0">
                <a:solidFill>
                  <a:srgbClr val="222B36"/>
                </a:solidFill>
                <a:latin typeface="Helvetica Neue"/>
                <a:ea typeface="PingFang SC"/>
              </a:rPr>
              <a:t>没档案</a:t>
            </a:r>
            <a:r>
              <a:rPr sz="1230" b="0" i="0">
                <a:solidFill>
                  <a:srgbClr val="222B36"/>
                </a:solidFill>
                <a:latin typeface="Helvetica Neue"/>
                <a:ea typeface="PingFang SC"/>
              </a:rPr>
              <a:t> → NO_META; AUTO 一律不重评、不动仓, 主页 🔴 红警等人手动补档案 (方向/q 无从谈起, 绝不瞎猜)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000"/>
              </a:spcAft>
            </a:pPr>
            <a:r>
              <a:rPr sz="1230" b="1" i="0">
                <a:solidFill>
                  <a:srgbClr val="C9A227"/>
                </a:solidFill>
                <a:latin typeface="Helvetica Neue"/>
                <a:ea typeface="PingFang SC"/>
              </a:rPr>
              <a:t>②  </a:t>
            </a:r>
            <a:r>
              <a:rPr sz="1230" b="1" i="0">
                <a:solidFill>
                  <a:srgbClr val="222B36"/>
                </a:solidFill>
                <a:latin typeface="Helvetica Neue"/>
                <a:ea typeface="PingFang SC"/>
              </a:rPr>
              <a:t>止盈</a:t>
            </a:r>
            <a:r>
              <a:rPr sz="1230" b="0" i="0">
                <a:solidFill>
                  <a:srgbClr val="222B36"/>
                </a:solidFill>
                <a:latin typeface="Helvetica Neue"/>
                <a:ea typeface="PingFang SC"/>
              </a:rPr>
              <a:t> (P6) — 含事件型 翻倍先到全卖 / 0.92 卖一半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000"/>
              </a:spcAft>
            </a:pPr>
            <a:r>
              <a:rPr sz="1230" b="1" i="0">
                <a:solidFill>
                  <a:srgbClr val="C9A227"/>
                </a:solidFill>
                <a:latin typeface="Helvetica Neue"/>
                <a:ea typeface="PingFang SC"/>
              </a:rPr>
              <a:t>③  </a:t>
            </a:r>
            <a:r>
              <a:rPr sz="1230" b="1" i="0">
                <a:solidFill>
                  <a:srgbClr val="222B36"/>
                </a:solidFill>
                <a:latin typeface="Helvetica Neue"/>
                <a:ea typeface="PingFang SC"/>
              </a:rPr>
              <a:t>止损 / 移动止损</a:t>
            </a:r>
            <a:r>
              <a:rPr sz="1230" b="0" i="0">
                <a:solidFill>
                  <a:srgbClr val="222B36"/>
                </a:solidFill>
                <a:latin typeface="Helvetica Neue"/>
                <a:ea typeface="PingFang SC"/>
              </a:rPr>
              <a:t> (P7) — 三档砸穿都直接平仓 (收敛回撤20% / 混合35% / 事件亏50%); 收敛 v8.3 起也不再交重评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000"/>
              </a:spcAft>
            </a:pPr>
            <a:r>
              <a:rPr sz="1230" b="1" i="0">
                <a:solidFill>
                  <a:srgbClr val="C9A227"/>
                </a:solidFill>
                <a:latin typeface="Helvetica Neue"/>
                <a:ea typeface="PingFang SC"/>
              </a:rPr>
              <a:t>④  </a:t>
            </a:r>
            <a:r>
              <a:rPr sz="1230" b="1" i="0">
                <a:solidFill>
                  <a:srgbClr val="222B36"/>
                </a:solidFill>
                <a:latin typeface="Helvetica Neue"/>
                <a:ea typeface="PingFang SC"/>
              </a:rPr>
              <a:t>时间止损: </a:t>
            </a:r>
            <a:r>
              <a:rPr sz="1230" b="0" i="0">
                <a:solidFill>
                  <a:srgbClr val="222B36"/>
                </a:solidFill>
                <a:latin typeface="Helvetica Neue"/>
                <a:ea typeface="PingFang SC"/>
              </a:rPr>
              <a:t>距结算 ≤2 天且价格离入场价没挪动 (&lt;5 个点) → 自动全卖 — 快结算了还在原地 = 论点没兑现, 别让钱陪跑到最后一刻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000"/>
              </a:spcAft>
            </a:pPr>
            <a:r>
              <a:rPr sz="1230" b="1" i="0">
                <a:solidFill>
                  <a:srgbClr val="C9A227"/>
                </a:solidFill>
                <a:latin typeface="Helvetica Neue"/>
                <a:ea typeface="PingFang SC"/>
              </a:rPr>
              <a:t>⑤  </a:t>
            </a:r>
            <a:r>
              <a:rPr sz="1230" b="1" i="0">
                <a:solidFill>
                  <a:srgbClr val="222B36"/>
                </a:solidFill>
                <a:latin typeface="Helvetica Neue"/>
                <a:ea typeface="PingFang SC"/>
              </a:rPr>
              <a:t>状态灯</a:t>
            </a:r>
            <a:r>
              <a:rPr sz="1230" b="0" i="0">
                <a:solidFill>
                  <a:srgbClr val="222B36"/>
                </a:solidFill>
                <a:latin typeface="Helvetica Neue"/>
                <a:ea typeface="PingFang SC"/>
              </a:rPr>
              <a:t> (只亮灯提示, 不自动卖) — 见右表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446520" y="1207008"/>
          <a:ext cx="5239511" cy="217627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91640"/>
                <a:gridCol w="1874519"/>
                <a:gridCol w="1673352"/>
              </a:tblGrid>
              <a:tr h="347472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80" b="1" i="0">
                          <a:solidFill>
                            <a:srgbClr val="FFFFFF"/>
                          </a:solidFill>
                          <a:latin typeface="Helvetica Neue"/>
                          <a:ea typeface="PingFang SC"/>
                        </a:rPr>
                        <a:t>状态灯</a:t>
                      </a:r>
                    </a:p>
                  </a:txBody>
                  <a:tcPr anchor="ctr" marL="91440" marR="64008" marT="27432" marB="27432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80" b="1" i="0">
                          <a:solidFill>
                            <a:srgbClr val="FFFFFF"/>
                          </a:solidFill>
                          <a:latin typeface="Helvetica Neue"/>
                          <a:ea typeface="PingFang SC"/>
                        </a:rPr>
                        <a:t>胜率 q − 现价</a:t>
                      </a:r>
                    </a:p>
                  </a:txBody>
                  <a:tcPr anchor="ctr" marL="91440" marR="64008" marT="27432" marB="27432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80" b="1" i="0">
                          <a:solidFill>
                            <a:srgbClr val="FFFFFF"/>
                          </a:solidFill>
                          <a:latin typeface="Helvetica Neue"/>
                          <a:ea typeface="PingFang SC"/>
                        </a:rPr>
                        <a:t>意思</a:t>
                      </a:r>
                    </a:p>
                  </a:txBody>
                  <a:tcPr anchor="ctr" marL="91440" marR="64008" marT="27432" marB="27432">
                    <a:solidFill>
                      <a:srgbClr val="1B2A4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80" b="1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HOLD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8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&gt; +2 点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8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继续拿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80" b="1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MARGINAL</a:t>
                      </a:r>
                    </a:p>
                  </a:txBody>
                  <a:tcPr anchor="ctr" marL="91440" marR="64008" marT="27432" marB="27432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8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−3 ～ +2 点</a:t>
                      </a:r>
                    </a:p>
                  </a:txBody>
                  <a:tcPr anchor="ctr" marL="91440" marR="64008" marT="27432" marB="27432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8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边缘, 别加仓</a:t>
                      </a:r>
                    </a:p>
                  </a:txBody>
                  <a:tcPr anchor="ctr" marL="91440" marR="64008" marT="27432" marB="27432">
                    <a:solidFill>
                      <a:srgbClr val="F3F5F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80" b="1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AT_TARGET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8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&lt; −3 点 (没重评过)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8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已到目标价, 考虑落袋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80" b="1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SOFT_NEGATIVE</a:t>
                      </a:r>
                    </a:p>
                  </a:txBody>
                  <a:tcPr anchor="ctr" marL="91440" marR="64008" marT="27432" marB="27432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8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&lt; −3 点 (重评过)</a:t>
                      </a:r>
                    </a:p>
                  </a:txBody>
                  <a:tcPr anchor="ctr" marL="91440" marR="64008" marT="27432" marB="27432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8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AI 也偏空, 留意</a:t>
                      </a:r>
                    </a:p>
                  </a:txBody>
                  <a:tcPr anchor="ctr" marL="91440" marR="64008" marT="27432" marB="27432">
                    <a:solidFill>
                      <a:srgbClr val="F3F5F9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446520" y="3749039"/>
            <a:ext cx="523951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</a:pPr>
            <a:r>
              <a:rPr sz="113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130" b="0" i="0">
                <a:solidFill>
                  <a:srgbClr val="222B36"/>
                </a:solidFill>
                <a:latin typeface="Helvetica Neue"/>
                <a:ea typeface="PingFang SC"/>
              </a:rPr>
              <a:t>状态灯每轮刷新, 显示在首页看板每仓的「决策状态」一行 (只提示, 从不自动卖)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</a:pPr>
            <a:r>
              <a:rPr sz="113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130" b="1" i="0">
                <a:solidFill>
                  <a:srgbClr val="222B36"/>
                </a:solidFill>
                <a:latin typeface="Helvetica Neue"/>
                <a:ea typeface="PingFang SC"/>
              </a:rPr>
              <a:t>心跳到底多快: </a:t>
            </a:r>
            <a:r>
              <a:rPr sz="1130" b="0" i="0">
                <a:solidFill>
                  <a:srgbClr val="222B36"/>
                </a:solidFill>
                <a:latin typeface="Helvetica Neue"/>
                <a:ea typeface="PingFang SC"/>
              </a:rPr>
              <a:t>睡 30 秒 + 每轮拉盘口/算止盈止损约 10 秒 ≈ 实际 40 秒过一遍每个仓; 价格跳空(如 0.9- 直接跳 0.99)时会在下一轮才抓到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5138928"/>
            <a:ext cx="11185855" cy="1078992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5221224"/>
            <a:ext cx="68580" cy="9144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2376" y="5230368"/>
            <a:ext cx="10801807" cy="896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30" b="1" i="0">
                <a:solidFill>
                  <a:srgbClr val="1B2A4A"/>
                </a:solidFill>
                <a:latin typeface="Helvetica Neue"/>
                <a:ea typeface="PingFang SC"/>
              </a:rPr>
              <a:t>记住一条: 触发价口径不对称 (防假信号的关键设计)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130" b="0" i="0">
                <a:solidFill>
                  <a:srgbClr val="222B36"/>
                </a:solidFill>
                <a:latin typeface="Helvetica Neue"/>
                <a:ea typeface="PingFang SC"/>
              </a:rPr>
              <a:t>止盈看 best_bid (真能卖到的价) — 防流动性差的假胜利; 止损/时间止损看参考价 cur_price — 防盘口瞬时蒸发误触发。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130" b="0" i="0">
                <a:solidFill>
                  <a:srgbClr val="222B36"/>
                </a:solidFill>
                <a:latin typeface="Helvetica Neue"/>
                <a:ea typeface="PingFang SC"/>
              </a:rPr>
              <a:t>best_bid 拉不到时自动退回参考价, 不会卡死。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74320"/>
            <a:ext cx="77724" cy="42062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4088" y="109728"/>
            <a:ext cx="1118585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FB6D9"/>
                </a:solidFill>
                <a:latin typeface="Helvetica Neue"/>
                <a:ea typeface="PingFang SC"/>
              </a:rPr>
              <a:t>07 · 选品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329184"/>
            <a:ext cx="1118585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150" b="1" i="0">
                <a:solidFill>
                  <a:srgbClr val="FFFFFF"/>
                </a:solidFill>
                <a:latin typeface="Helvetica Neue"/>
                <a:ea typeface="PingFang SC"/>
              </a:rPr>
              <a:t>找新仓 — 全自动 GLM 选品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46520"/>
            <a:ext cx="11185855" cy="12801"/>
          </a:xfrm>
          <a:prstGeom prst="rect">
            <a:avLst/>
          </a:prstGeom>
          <a:solidFill>
            <a:srgbClr val="D5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3A3"/>
                </a:solidFill>
                <a:latin typeface="Helvetica Neue"/>
                <a:ea typeface="PingFang SC"/>
              </a:rPr>
              <a:t>Polymarket AUTO 全自动交易 · 项目分享 v8.5.3 · 2026-07-24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45575" y="6510528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3A3"/>
                </a:solidFill>
                <a:latin typeface="Helvetica Neue"/>
                <a:ea typeface="PingFang SC"/>
              </a:rPr>
              <a:t>第 09 页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060704"/>
            <a:ext cx="11185855" cy="914400"/>
          </a:xfrm>
          <a:prstGeom prst="roundRect">
            <a:avLst>
              <a:gd name="adj" fmla="val 8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143000"/>
            <a:ext cx="68580" cy="749808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2376" y="1152144"/>
            <a:ext cx="10801807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30" b="1" i="0">
                <a:solidFill>
                  <a:srgbClr val="2E74B5"/>
                </a:solidFill>
                <a:latin typeface="Helvetica Neue"/>
                <a:ea typeface="PingFang SC"/>
              </a:rPr>
              <a:t>一句话: 定时扫市场 → GLM 像人一样多轮搜新闻 → 自动出 JSON 推荐 → 自动分流入库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0" i="0">
                <a:solidFill>
                  <a:srgbClr val="222B36"/>
                </a:solidFill>
                <a:latin typeface="Helvetica Neue"/>
                <a:ea typeface="PingFang SC"/>
              </a:rPr>
              <a:t>老半自动版这一步是"手动把提示词贴到 Claude.ai 网页"; AUTO 全交给智谱 GLM 自动跑, 没有人工复制粘贴。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157984"/>
            <a:ext cx="1666189" cy="868680"/>
          </a:xfrm>
          <a:prstGeom prst="roundRect">
            <a:avLst>
              <a:gd name="adj" fmla="val 10000"/>
            </a:avLst>
          </a:prstGeom>
          <a:solidFill>
            <a:srgbClr val="243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7784" y="2276856"/>
            <a:ext cx="1556461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Helvetica Neue"/>
                <a:ea typeface="PingFang SC"/>
              </a:rPr>
              <a:t>① 定时全扫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C9D6EC"/>
                </a:solidFill>
                <a:latin typeface="Helvetica Neue"/>
                <a:ea typeface="PingFang SC"/>
              </a:rPr>
              <a:t>09:00/21:00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C9D6EC"/>
                </a:solidFill>
                <a:latin typeface="Helvetica Neue"/>
                <a:ea typeface="PingFang SC"/>
              </a:rPr>
              <a:t>中范围·26 tag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69109" y="2446020"/>
            <a:ext cx="23774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E74B5"/>
                </a:solidFill>
                <a:latin typeface="Helvetica Neue"/>
                <a:ea typeface="PingFang SC"/>
              </a:rPr>
              <a:t>➜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406853" y="2157984"/>
            <a:ext cx="1666189" cy="868680"/>
          </a:xfrm>
          <a:prstGeom prst="roundRect">
            <a:avLst>
              <a:gd name="adj" fmla="val 10000"/>
            </a:avLst>
          </a:prstGeom>
          <a:solidFill>
            <a:srgbClr val="243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461717" y="2276856"/>
            <a:ext cx="1556461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Helvetica Neue"/>
                <a:ea typeface="PingFang SC"/>
              </a:rPr>
              <a:t>② 筛候选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C9D6EC"/>
                </a:solidFill>
                <a:latin typeface="Helvetica Neue"/>
                <a:ea typeface="PingFang SC"/>
              </a:rPr>
              <a:t>单 tag ≥5 个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C9D6EC"/>
                </a:solidFill>
                <a:latin typeface="Helvetica Neue"/>
                <a:ea typeface="PingFang SC"/>
              </a:rPr>
              <a:t>才送 (省 API)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73042" y="2446020"/>
            <a:ext cx="23774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E74B5"/>
                </a:solidFill>
                <a:latin typeface="Helvetica Neue"/>
                <a:ea typeface="PingFang SC"/>
              </a:rPr>
              <a:t>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10786" y="2157984"/>
            <a:ext cx="1666189" cy="868680"/>
          </a:xfrm>
          <a:prstGeom prst="roundRect">
            <a:avLst>
              <a:gd name="adj" fmla="val 10000"/>
            </a:avLst>
          </a:prstGeom>
          <a:solidFill>
            <a:srgbClr val="243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65650" y="2276856"/>
            <a:ext cx="1556461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Helvetica Neue"/>
                <a:ea typeface="PingFang SC"/>
              </a:rPr>
              <a:t>③ GLM 搜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C9D6EC"/>
                </a:solidFill>
                <a:latin typeface="Helvetica Neue"/>
                <a:ea typeface="PingFang SC"/>
              </a:rPr>
              <a:t>多轮自主搜索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C9D6EC"/>
                </a:solidFill>
                <a:latin typeface="Helvetica Neue"/>
                <a:ea typeface="PingFang SC"/>
              </a:rPr>
              <a:t>web_search 循环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76975" y="2446020"/>
            <a:ext cx="23774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E74B5"/>
                </a:solidFill>
                <a:latin typeface="Helvetica Neue"/>
                <a:ea typeface="PingFang SC"/>
              </a:rPr>
              <a:t>➜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4719" y="2157984"/>
            <a:ext cx="1666189" cy="868680"/>
          </a:xfrm>
          <a:prstGeom prst="roundRect">
            <a:avLst>
              <a:gd name="adj" fmla="val 10000"/>
            </a:avLst>
          </a:prstGeom>
          <a:solidFill>
            <a:srgbClr val="243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69583" y="2276856"/>
            <a:ext cx="1556461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Helvetica Neue"/>
                <a:ea typeface="PingFang SC"/>
              </a:rPr>
              <a:t>④ 回 JSON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C9D6EC"/>
                </a:solidFill>
                <a:latin typeface="Helvetica Neue"/>
                <a:ea typeface="PingFang SC"/>
              </a:rPr>
              <a:t>方向/胜率q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C9D6EC"/>
                </a:solidFill>
                <a:latin typeface="Helvetica Neue"/>
                <a:ea typeface="PingFang SC"/>
              </a:rPr>
              <a:t>信心/理由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80908" y="2446020"/>
            <a:ext cx="23774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E74B5"/>
                </a:solidFill>
                <a:latin typeface="Helvetica Neue"/>
                <a:ea typeface="PingFang SC"/>
              </a:rPr>
              <a:t>➜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18652" y="2157984"/>
            <a:ext cx="1666189" cy="868680"/>
          </a:xfrm>
          <a:prstGeom prst="roundRect">
            <a:avLst>
              <a:gd name="adj" fmla="val 10000"/>
            </a:avLst>
          </a:prstGeom>
          <a:solidFill>
            <a:srgbClr val="243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73516" y="2276856"/>
            <a:ext cx="1556461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Helvetica Neue"/>
                <a:ea typeface="PingFang SC"/>
              </a:rPr>
              <a:t>⑤ 校验入库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C9D6EC"/>
                </a:solidFill>
                <a:latin typeface="Helvetica Neue"/>
                <a:ea typeface="PingFang SC"/>
              </a:rPr>
              <a:t>归一/白名单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C9D6EC"/>
                </a:solidFill>
                <a:latin typeface="Helvetica Neue"/>
                <a:ea typeface="PingFang SC"/>
              </a:rPr>
              <a:t>剔坏数据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84841" y="2446020"/>
            <a:ext cx="23774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E74B5"/>
                </a:solidFill>
                <a:latin typeface="Helvetica Neue"/>
                <a:ea typeface="PingFang SC"/>
              </a:rPr>
              <a:t>➜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022585" y="2157984"/>
            <a:ext cx="1666189" cy="868680"/>
          </a:xfrm>
          <a:prstGeom prst="roundRect">
            <a:avLst>
              <a:gd name="adj" fmla="val 10000"/>
            </a:avLst>
          </a:prstGeom>
          <a:solidFill>
            <a:srgbClr val="243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77449" y="2276856"/>
            <a:ext cx="1556461" cy="6309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 i="0">
                <a:solidFill>
                  <a:srgbClr val="FFFFFF"/>
                </a:solidFill>
                <a:latin typeface="Helvetica Neue"/>
                <a:ea typeface="PingFang SC"/>
              </a:rPr>
              <a:t>⑥ 自动分流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C9D6EC"/>
                </a:solidFill>
                <a:latin typeface="Helvetica Neue"/>
                <a:ea typeface="PingFang SC"/>
              </a:rPr>
              <a:t>真买 / 测试仓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C9D6EC"/>
                </a:solidFill>
                <a:latin typeface="Helvetica Neue"/>
                <a:ea typeface="PingFang SC"/>
              </a:rPr>
              <a:t>(见 P10)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3310128"/>
            <a:ext cx="111858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</a:pPr>
            <a:r>
              <a:rPr sz="122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220" b="1" i="0">
                <a:solidFill>
                  <a:srgbClr val="222B36"/>
                </a:solidFill>
                <a:latin typeface="Helvetica Neue"/>
                <a:ea typeface="PingFang SC"/>
              </a:rPr>
              <a:t>主题从哪来: </a:t>
            </a:r>
            <a:r>
              <a:rPr sz="1220" b="0" i="0">
                <a:solidFill>
                  <a:srgbClr val="222B36"/>
                </a:solidFill>
                <a:latin typeface="Helvetica Neue"/>
                <a:ea typeface="PingFang SC"/>
              </a:rPr>
              <a:t>26 个固定白名单 tag (modules/tags.py; 动态热门榜功能已整个删除, 改 tag 只能人工改文件) — 宇宙铁律: 只交易"白名单 tag 扫描报告里真实出现"的市场, 双重闸门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</a:pPr>
            <a:r>
              <a:rPr sz="122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220" b="1" i="0">
                <a:solidFill>
                  <a:srgbClr val="222B36"/>
                </a:solidFill>
                <a:latin typeface="Helvetica Neue"/>
                <a:ea typeface="PingFang SC"/>
              </a:rPr>
              <a:t>多轮自主搜索 (v8 升级): </a:t>
            </a:r>
            <a:r>
              <a:rPr sz="1220" b="0" i="0">
                <a:solidFill>
                  <a:srgbClr val="222B36"/>
                </a:solidFill>
                <a:latin typeface="Helvetica Neue"/>
                <a:ea typeface="PingFang SC"/>
              </a:rPr>
              <a:t>GLM 不再一次性喂搜索结果, 而是自己决定搜什么、看完再搜 (web_search 做成函数工具循环, 上限 8 轮) — 像人一样搜→想→再搜; 任何失败自动回退老的一次性注入搜索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</a:pPr>
            <a:r>
              <a:rPr sz="122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220" b="1" i="0">
                <a:solidFill>
                  <a:srgbClr val="222B36"/>
                </a:solidFill>
                <a:latin typeface="Helvetica Neue"/>
                <a:ea typeface="PingFang SC"/>
              </a:rPr>
              <a:t>省钱闸: </a:t>
            </a:r>
            <a:r>
              <a:rPr sz="1220" b="0" i="0">
                <a:solidFill>
                  <a:srgbClr val="222B36"/>
                </a:solidFill>
                <a:latin typeface="Helvetica Neue"/>
                <a:ea typeface="PingFang SC"/>
              </a:rPr>
              <a:t>一个 tag 扫出的候选 &lt; 5 个 → 该 tag 本轮不送 GLM (跳过记日志不静默); 扫得严的日子可能大半 tag 都不触发 = 少花 API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</a:pPr>
            <a:r>
              <a:rPr sz="122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220" b="1" i="0">
                <a:solidFill>
                  <a:srgbClr val="222B36"/>
                </a:solidFill>
                <a:latin typeface="Helvetica Neue"/>
                <a:ea typeface="PingFang SC"/>
              </a:rPr>
              <a:t>两把 GLM key 分工: </a:t>
            </a:r>
            <a:r>
              <a:rPr sz="1220" b="0" i="0">
                <a:solidFill>
                  <a:srgbClr val="222B36"/>
                </a:solidFill>
                <a:latin typeface="Helvetica Neue"/>
                <a:ea typeface="PingFang SC"/>
              </a:rPr>
              <a:t>选品搜索用一把、重评用另一把, 绝不混用 — 智谱后台按 key 分开记账, 花销看得清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</a:pPr>
            <a:r>
              <a:rPr sz="122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220" b="1" i="0">
                <a:solidFill>
                  <a:srgbClr val="222B36"/>
                </a:solidFill>
                <a:latin typeface="Helvetica Neue"/>
                <a:ea typeface="PingFang SC"/>
              </a:rPr>
              <a:t>只列清单不越权: </a:t>
            </a:r>
            <a:r>
              <a:rPr sz="1220" b="0" i="0">
                <a:solidFill>
                  <a:srgbClr val="222B36"/>
                </a:solidFill>
                <a:latin typeface="Helvetica Neue"/>
                <a:ea typeface="PingFang SC"/>
              </a:rPr>
              <a:t>选品阶段只把推荐写进 /auto 候选库 (带"真买/测试仓"预演标签), 真正下不下单由分流规则 (P10) 在执行时刻按新鲜盘口再定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74320"/>
            <a:ext cx="77724" cy="42062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4088" y="109728"/>
            <a:ext cx="1118585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FB6D9"/>
                </a:solidFill>
                <a:latin typeface="Helvetica Neue"/>
                <a:ea typeface="PingFang SC"/>
              </a:rPr>
              <a:t>08 · 选品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329184"/>
            <a:ext cx="1118585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150" b="1" i="0">
                <a:solidFill>
                  <a:srgbClr val="FFFFFF"/>
                </a:solidFill>
                <a:latin typeface="Helvetica Neue"/>
                <a:ea typeface="PingFang SC"/>
              </a:rPr>
              <a:t>分流规则 — 真买还是进测试仓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46520"/>
            <a:ext cx="11185855" cy="12801"/>
          </a:xfrm>
          <a:prstGeom prst="rect">
            <a:avLst/>
          </a:prstGeom>
          <a:solidFill>
            <a:srgbClr val="D5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3A3"/>
                </a:solidFill>
                <a:latin typeface="Helvetica Neue"/>
                <a:ea typeface="PingFang SC"/>
              </a:rPr>
              <a:t>Polymarket AUTO 全自动交易 · 项目分享 v8.5.3 · 2026-07-24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45575" y="6510528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3A3"/>
                </a:solidFill>
                <a:latin typeface="Helvetica Neue"/>
                <a:ea typeface="PingFang SC"/>
              </a:rPr>
              <a:t>第 10 页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060704"/>
            <a:ext cx="11185855" cy="1060704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143000"/>
            <a:ext cx="68580" cy="896112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2376" y="1152144"/>
            <a:ext cx="10801807" cy="8778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80" b="1" i="0">
                <a:solidFill>
                  <a:srgbClr val="1B2A4A"/>
                </a:solidFill>
                <a:latin typeface="Helvetica Neue"/>
                <a:ea typeface="PingFang SC"/>
              </a:rPr>
              <a:t>故意做得极简 — 一条价格线定生死, 没有别的闸门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220" b="0" i="0">
                <a:solidFill>
                  <a:srgbClr val="222B36"/>
                </a:solidFill>
                <a:latin typeface="Helvetica Neue"/>
                <a:ea typeface="PingFang SC"/>
              </a:rPr>
              <a:t>GLM 推荐的市场, 按【执行时刻的新鲜盘口现价 p】一刀切: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220" b="0" i="0">
                <a:solidFill>
                  <a:srgbClr val="222B36"/>
                </a:solidFill>
                <a:latin typeface="Helvetica Neue"/>
                <a:ea typeface="PingFang SC"/>
              </a:rPr>
              <a:t>    0.40 &lt; p &lt; 0.85  →  真买 (按 sizing 公式金额, P11)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220" b="0" i="0">
                <a:solidFill>
                  <a:srgbClr val="222B36"/>
                </a:solidFill>
                <a:latin typeface="Helvetica Neue"/>
                <a:ea typeface="PingFang SC"/>
              </a:rPr>
              <a:t>    其余 (含恰好等于 0.40 / 0.85)  →  自动进测试仓, 零成本模拟验证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395728"/>
            <a:ext cx="111858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900"/>
              </a:spcAft>
            </a:pPr>
            <a:r>
              <a:rPr sz="123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230" b="1" i="0">
                <a:solidFill>
                  <a:srgbClr val="222B36"/>
                </a:solidFill>
                <a:latin typeface="Helvetica Neue"/>
                <a:ea typeface="PingFang SC"/>
              </a:rPr>
              <a:t>为什么这么简单: </a:t>
            </a:r>
            <a:r>
              <a:rPr sz="1230" b="0" i="0">
                <a:solidFill>
                  <a:srgbClr val="222B36"/>
                </a:solidFill>
                <a:latin typeface="Helvetica Neue"/>
                <a:ea typeface="PingFang SC"/>
              </a:rPr>
              <a:t>用户明确否掉了 edge 门槛、双跑取一致、信心分流、流动性检查那套复杂闸门 — 规则简单写死, 让机器少犯"自作聪明"的错; 想加任何保护先问过人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900"/>
              </a:spcAft>
            </a:pPr>
            <a:r>
              <a:rPr sz="123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230" b="1" i="0">
                <a:solidFill>
                  <a:srgbClr val="222B36"/>
                </a:solidFill>
                <a:latin typeface="Helvetica Neue"/>
                <a:ea typeface="PingFang SC"/>
              </a:rPr>
              <a:t>黑名单命中 → 强制测试仓: </a:t>
            </a:r>
            <a:r>
              <a:rPr sz="1230" b="0" i="0">
                <a:solidFill>
                  <a:srgbClr val="222B36"/>
                </a:solidFill>
                <a:latin typeface="Helvetica Neue"/>
                <a:ea typeface="PingFang SC"/>
              </a:rPr>
              <a:t>关键词黑名单命中标题/slug 的市场 (如 bitcoin-GTA) 永远不真买, 无视价格强制只进测试仓 (背景: 曾有黑名单市场挂着白名单 tag 被放行买成真仓)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900"/>
              </a:spcAft>
            </a:pPr>
            <a:r>
              <a:rPr sz="123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230" b="1" i="0">
                <a:solidFill>
                  <a:srgbClr val="222B36"/>
                </a:solidFill>
                <a:latin typeface="Helvetica Neue"/>
                <a:ea typeface="PingFang SC"/>
              </a:rPr>
              <a:t>临下单漂移容差: </a:t>
            </a:r>
            <a:r>
              <a:rPr sz="1230" b="0" i="0">
                <a:solidFill>
                  <a:srgbClr val="222B36"/>
                </a:solidFill>
                <a:latin typeface="Helvetica Neue"/>
                <a:ea typeface="PingFang SC"/>
              </a:rPr>
              <a:t>真买前最后复核一次盘口 — 相对算金额那次的价漂移 &gt; 3pp, 或漂出 40–85 区间 → 这单不追, 点名跳过 (流程是秒级的, 正常动不了多少)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900"/>
              </a:spcAft>
            </a:pPr>
            <a:r>
              <a:rPr sz="123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230" b="1" i="0">
                <a:solidFill>
                  <a:srgbClr val="222B36"/>
                </a:solidFill>
                <a:latin typeface="Helvetica Neue"/>
                <a:ea typeface="PingFang SC"/>
              </a:rPr>
              <a:t>防对锁: </a:t>
            </a:r>
            <a:r>
              <a:rPr sz="1230" b="0" i="0">
                <a:solidFill>
                  <a:srgbClr val="222B36"/>
                </a:solidFill>
                <a:latin typeface="Helvetica Neue"/>
                <a:ea typeface="PingFang SC"/>
              </a:rPr>
              <a:t>已持有同一市场对面方向 → 拒买 (不左右手互搏); 同时立刻触发那个持仓一次重评 (P10 反向推荐)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900"/>
              </a:spcAft>
            </a:pPr>
            <a:r>
              <a:rPr sz="123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230" b="1" i="0">
                <a:solidFill>
                  <a:srgbClr val="222B36"/>
                </a:solidFill>
                <a:latin typeface="Helvetica Neue"/>
                <a:ea typeface="PingFang SC"/>
              </a:rPr>
              <a:t>跳过都点名: </a:t>
            </a:r>
            <a:r>
              <a:rPr sz="1230" b="0" i="0">
                <a:solidFill>
                  <a:srgbClr val="222B36"/>
                </a:solidFill>
                <a:latin typeface="Helvetica Neue"/>
                <a:ea typeface="PingFang SC"/>
              </a:rPr>
              <a:t>已持有 / 公式算出 &lt;$1 / 无盘口 / 已关闭 / gamma 查不到 … 每种跳过都记状态, 不许静默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5440680"/>
            <a:ext cx="11185855" cy="868680"/>
          </a:xfrm>
          <a:prstGeom prst="roundRect">
            <a:avLst>
              <a:gd name="adj" fmla="val 8000"/>
            </a:avLst>
          </a:prstGeom>
          <a:solidFill>
            <a:srgbClr val="FFF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5522976"/>
            <a:ext cx="68580" cy="704088"/>
          </a:xfrm>
          <a:prstGeom prst="rect">
            <a:avLst/>
          </a:prstGeom>
          <a:solidFill>
            <a:srgbClr val="8F62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2376" y="5532120"/>
            <a:ext cx="10801807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30" b="1" i="0">
                <a:solidFill>
                  <a:srgbClr val="8F6212"/>
                </a:solidFill>
                <a:latin typeface="Helvetica Neue"/>
                <a:ea typeface="PingFang SC"/>
              </a:rPr>
              <a:t>和老半自动版的区别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130" b="0" i="0">
                <a:solidFill>
                  <a:srgbClr val="222B36"/>
                </a:solidFill>
                <a:latin typeface="Helvetica Neue"/>
                <a:ea typeface="PingFang SC"/>
              </a:rPr>
              <a:t>老版靠"edge (胜率−现价) 要大过一个按扫描档/价位算的门槛"才允许推荐 — 一整页规则。AUTO 把它整个拆了,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130" b="0" i="0">
                <a:solidFill>
                  <a:srgbClr val="222B36"/>
                </a:solidFill>
                <a:latin typeface="Helvetica Neue"/>
                <a:ea typeface="PingFang SC"/>
              </a:rPr>
              <a:t>换成这条 40–85 价格线。够不够便宜交给 sizing 公式去缩金额 (edge≤0 时公式自然给 $0), 不再单设入场闸。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74320"/>
            <a:ext cx="77724" cy="42062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4088" y="109728"/>
            <a:ext cx="1118585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FB6D9"/>
                </a:solidFill>
                <a:latin typeface="Helvetica Neue"/>
                <a:ea typeface="PingFang SC"/>
              </a:rPr>
              <a:t>09 · 仓位管理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329184"/>
            <a:ext cx="1118585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150" b="1" i="0">
                <a:solidFill>
                  <a:srgbClr val="FFFFFF"/>
                </a:solidFill>
                <a:latin typeface="Helvetica Neue"/>
                <a:ea typeface="PingFang SC"/>
              </a:rPr>
              <a:t>新仓金额 — 一笔下多少钱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46520"/>
            <a:ext cx="11185855" cy="12801"/>
          </a:xfrm>
          <a:prstGeom prst="rect">
            <a:avLst/>
          </a:prstGeom>
          <a:solidFill>
            <a:srgbClr val="D5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3A3"/>
                </a:solidFill>
                <a:latin typeface="Helvetica Neue"/>
                <a:ea typeface="PingFang SC"/>
              </a:rPr>
              <a:t>Polymarket AUTO 全自动交易 · 项目分享 v8.5.3 · 2026-07-24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45575" y="6510528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3A3"/>
                </a:solidFill>
                <a:latin typeface="Helvetica Neue"/>
                <a:ea typeface="PingFang SC"/>
              </a:rPr>
              <a:t>第 11 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097280"/>
            <a:ext cx="111858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200"/>
              </a:spcAft>
            </a:pPr>
            <a:r>
              <a:rPr sz="1260" b="1" i="0">
                <a:solidFill>
                  <a:srgbClr val="C9A227"/>
                </a:solidFill>
                <a:latin typeface="Helvetica Neue"/>
                <a:ea typeface="PingFang SC"/>
              </a:rPr>
              <a:t>①  </a:t>
            </a:r>
            <a:r>
              <a:rPr sz="1260" b="1" i="0">
                <a:solidFill>
                  <a:srgbClr val="222B36"/>
                </a:solidFill>
                <a:latin typeface="Helvetica Neue"/>
                <a:ea typeface="PingFang SC"/>
              </a:rPr>
              <a:t>凯利公式打 2.5 折: </a:t>
            </a:r>
            <a:r>
              <a:rPr sz="1260" b="0" i="0">
                <a:solidFill>
                  <a:srgbClr val="222B36"/>
                </a:solidFill>
                <a:latin typeface="Helvetica Neue"/>
                <a:ea typeface="PingFang SC"/>
              </a:rPr>
              <a:t>金额 = 参考本金 × [edge ÷ (1−p)] × 25%; edge = GLM 胜率 q − 现价 p, edge ≤ 0 → 自然给 $0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200"/>
              </a:spcAft>
            </a:pPr>
            <a:r>
              <a:rPr sz="1260" b="1" i="0">
                <a:solidFill>
                  <a:srgbClr val="C9A227"/>
                </a:solidFill>
                <a:latin typeface="Helvetica Neue"/>
                <a:ea typeface="PingFang SC"/>
              </a:rPr>
              <a:t>②  </a:t>
            </a:r>
            <a:r>
              <a:rPr sz="1260" b="1" i="0">
                <a:solidFill>
                  <a:srgbClr val="222B36"/>
                </a:solidFill>
                <a:latin typeface="Helvetica Neue"/>
                <a:ea typeface="PingFang SC"/>
              </a:rPr>
              <a:t>本金冻结 $50 (v8 新): </a:t>
            </a:r>
            <a:r>
              <a:rPr sz="1260" b="0" i="0">
                <a:solidFill>
                  <a:srgbClr val="222B36"/>
                </a:solidFill>
                <a:latin typeface="Helvetica Neue"/>
                <a:ea typeface="PingFang SC"/>
              </a:rPr>
              <a:t>凯利里的"参考本金"锁死在 $50 — 以后往账户加钱 → 多开几个仓, 而不是把单仓放大 (加现金不加单注)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200"/>
              </a:spcAft>
            </a:pPr>
            <a:r>
              <a:rPr sz="1260" b="1" i="0">
                <a:solidFill>
                  <a:srgbClr val="C9A227"/>
                </a:solidFill>
                <a:latin typeface="Helvetica Neue"/>
                <a:ea typeface="PingFang SC"/>
              </a:rPr>
              <a:t>③  </a:t>
            </a:r>
            <a:r>
              <a:rPr sz="1260" b="1" i="0">
                <a:solidFill>
                  <a:srgbClr val="222B36"/>
                </a:solidFill>
                <a:latin typeface="Helvetica Neue"/>
                <a:ea typeface="PingFang SC"/>
              </a:rPr>
              <a:t>信心乘数 (v8 新): </a:t>
            </a:r>
            <a:r>
              <a:rPr sz="1260" b="0" i="0">
                <a:solidFill>
                  <a:srgbClr val="222B36"/>
                </a:solidFill>
                <a:latin typeface="Helvetica Neue"/>
                <a:ea typeface="PingFang SC"/>
              </a:rPr>
              <a:t>GLM 给的信心 high ×1.25 / medium ×1.0 / low ×0.75, 只缩放凯利那步的下注本金 (老版本信心只记录、不进公式 — 这里反过来了)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200"/>
              </a:spcAft>
            </a:pPr>
            <a:r>
              <a:rPr sz="1260" b="1" i="0">
                <a:solidFill>
                  <a:srgbClr val="C9A227"/>
                </a:solidFill>
                <a:latin typeface="Helvetica Neue"/>
                <a:ea typeface="PingFang SC"/>
              </a:rPr>
              <a:t>④  </a:t>
            </a:r>
            <a:r>
              <a:rPr sz="1260" b="1" i="0">
                <a:solidFill>
                  <a:srgbClr val="222B36"/>
                </a:solidFill>
                <a:latin typeface="Helvetica Neue"/>
                <a:ea typeface="PingFang SC"/>
              </a:rPr>
              <a:t>再打两个折扣: </a:t>
            </a:r>
            <a:r>
              <a:rPr sz="1260" b="0" i="0">
                <a:solidFill>
                  <a:srgbClr val="222B36"/>
                </a:solidFill>
                <a:latin typeface="Helvetica Neue"/>
                <a:ea typeface="PingFang SC"/>
              </a:rPr>
              <a:t>结算太远 (&gt;21 天) 按平方根比例减、最低 4 折; 冷门低价盘 (p&lt;$0.15) 最多打对折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200"/>
              </a:spcAft>
            </a:pPr>
            <a:r>
              <a:rPr sz="1260" b="1" i="0">
                <a:solidFill>
                  <a:srgbClr val="C9A227"/>
                </a:solidFill>
                <a:latin typeface="Helvetica Neue"/>
                <a:ea typeface="PingFang SC"/>
              </a:rPr>
              <a:t>⑤  </a:t>
            </a:r>
            <a:r>
              <a:rPr sz="1260" b="1" i="0">
                <a:solidFill>
                  <a:srgbClr val="222B36"/>
                </a:solidFill>
                <a:latin typeface="Helvetica Neue"/>
                <a:ea typeface="PingFang SC"/>
              </a:rPr>
              <a:t>主题簇帽子 + 硬边界: </a:t>
            </a:r>
            <a:r>
              <a:rPr sz="1260" b="0" i="0">
                <a:solidFill>
                  <a:srgbClr val="222B36"/>
                </a:solidFill>
                <a:latin typeface="Helvetica Neue"/>
                <a:ea typeface="PingFang SC"/>
              </a:rPr>
              <a:t>同主题簇 ≤ 真实本金 20% · 最终金额压回 $1 – $15 (原"月回撤预算闸"v8.0.6 已删 — 18 仓时被打满拒了所有新单)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794760"/>
            <a:ext cx="11185855" cy="1024128"/>
          </a:xfrm>
          <a:prstGeom prst="roundRect">
            <a:avLst>
              <a:gd name="adj" fmla="val 8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3877056"/>
            <a:ext cx="68580" cy="859536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2376" y="3886200"/>
            <a:ext cx="10801807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30" b="1" i="0">
                <a:solidFill>
                  <a:srgbClr val="2E74B5"/>
                </a:solidFill>
                <a:latin typeface="Helvetica Neue"/>
                <a:ea typeface="PingFang SC"/>
              </a:rPr>
              <a:t>算一笔现成的 (数字照真实公式)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130" b="0" i="0">
                <a:solidFill>
                  <a:srgbClr val="222B36"/>
                </a:solidFill>
                <a:latin typeface="Helvetica Neue"/>
                <a:ea typeface="PingFang SC"/>
              </a:rPr>
              <a:t>参考本金 $50 (冻结) · GLM 胜率 60% · 现价 $0.50 · 信心 high · 24 天后结算 →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130" b="0" i="0">
                <a:solidFill>
                  <a:srgbClr val="222B36"/>
                </a:solidFill>
                <a:latin typeface="Helvetica Neue"/>
                <a:ea typeface="PingFang SC"/>
              </a:rPr>
              <a:t>edge 10 点 → 凯利 $50 × 0.2 × 25% = $2.5 → ×1.25 信心 ≈ $3.1 → 天数打 94 折 ≈ $2.9 → 各帽子没碰到 → 下 ~$2.9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5029200"/>
            <a:ext cx="111858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</a:pPr>
            <a:r>
              <a:rPr sz="121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210" b="1" i="0">
                <a:solidFill>
                  <a:srgbClr val="222B36"/>
                </a:solidFill>
                <a:latin typeface="Helvetica Neue"/>
                <a:ea typeface="PingFang SC"/>
              </a:rPr>
              <a:t>为什么冻结本金: </a:t>
            </a:r>
            <a:r>
              <a:rPr sz="1210" b="0" i="0">
                <a:solidFill>
                  <a:srgbClr val="222B36"/>
                </a:solidFill>
                <a:latin typeface="Helvetica Neue"/>
                <a:ea typeface="PingFang SC"/>
              </a:rPr>
              <a:t>不想因为账户涨了就放大每一注 (单次判断错的伤害跟着涨); 加的现金拿去多开仓、分散, 更稳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</a:pPr>
            <a:r>
              <a:rPr sz="121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210" b="1" i="0">
                <a:solidFill>
                  <a:srgbClr val="222B36"/>
                </a:solidFill>
                <a:latin typeface="Helvetica Neue"/>
                <a:ea typeface="PingFang SC"/>
              </a:rPr>
              <a:t>为什么帽子这么多: </a:t>
            </a:r>
            <a:r>
              <a:rPr sz="1210" b="0" i="0">
                <a:solidFill>
                  <a:srgbClr val="222B36"/>
                </a:solidFill>
                <a:latin typeface="Helvetica Neue"/>
                <a:ea typeface="PingFang SC"/>
              </a:rPr>
              <a:t>凯利假设概率估得准 — GLM 估不准的部分全靠这些帽子兜着; 单仓最多 $15, 单次判断错也伤不了本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</a:pPr>
            <a:r>
              <a:rPr sz="121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210" b="1" i="0">
                <a:solidFill>
                  <a:srgbClr val="222B36"/>
                </a:solidFill>
                <a:latin typeface="Helvetica Neue"/>
                <a:ea typeface="PingFang SC"/>
              </a:rPr>
              <a:t>每次算的建议都落库 (sizing_log): </a:t>
            </a:r>
            <a:r>
              <a:rPr sz="1210" b="0" i="0">
                <a:solidFill>
                  <a:srgbClr val="222B36"/>
                </a:solidFill>
                <a:latin typeface="Helvetica Neue"/>
                <a:ea typeface="PingFang SC"/>
              </a:rPr>
              <a:t>和实际下的金额对比, 攒数据回头调参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74320"/>
            <a:ext cx="77724" cy="42062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4088" y="109728"/>
            <a:ext cx="1118585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FB6D9"/>
                </a:solidFill>
                <a:latin typeface="Helvetica Neue"/>
                <a:ea typeface="PingFang SC"/>
              </a:rPr>
              <a:t>10 · 自动重评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329184"/>
            <a:ext cx="1118585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150" b="1" i="0">
                <a:solidFill>
                  <a:srgbClr val="FFFFFF"/>
                </a:solidFill>
                <a:latin typeface="Helvetica Neue"/>
                <a:ea typeface="PingFang SC"/>
              </a:rPr>
              <a:t>自动重评 ① — 什么时候触发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46520"/>
            <a:ext cx="11185855" cy="12801"/>
          </a:xfrm>
          <a:prstGeom prst="rect">
            <a:avLst/>
          </a:prstGeom>
          <a:solidFill>
            <a:srgbClr val="D5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3A3"/>
                </a:solidFill>
                <a:latin typeface="Helvetica Neue"/>
                <a:ea typeface="PingFang SC"/>
              </a:rPr>
              <a:t>Polymarket AUTO 全自动交易 · 项目分享 v8.5.3 · 2026-07-24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45575" y="6510528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3A3"/>
                </a:solidFill>
                <a:latin typeface="Helvetica Neue"/>
                <a:ea typeface="PingFang SC"/>
              </a:rPr>
              <a:t>第 12 页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078992"/>
            <a:ext cx="11185855" cy="749808"/>
          </a:xfrm>
          <a:prstGeom prst="roundRect">
            <a:avLst>
              <a:gd name="adj" fmla="val 8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161288"/>
            <a:ext cx="68580" cy="585216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2376" y="1170432"/>
            <a:ext cx="10801807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30" b="1" i="0">
                <a:solidFill>
                  <a:srgbClr val="2E74B5"/>
                </a:solidFill>
                <a:latin typeface="Helvetica Neue"/>
                <a:ea typeface="PingFang SC"/>
              </a:rPr>
              <a:t>一句话: 不盲卖也不护短 — 定期 + 出事时, 让 GLM 联网重查一遍再决定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130" b="0" i="0">
                <a:solidFill>
                  <a:srgbClr val="222B36"/>
                </a:solidFill>
                <a:latin typeface="Helvetica Neue"/>
                <a:ea typeface="PingFang SC"/>
              </a:rPr>
              <a:t>AUTO 有三条触发路 (都经 inflight 锁互斥防重复烧钱; 反向推荐那路另有 6 小时同类去重):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02920" y="1993392"/>
          <a:ext cx="11183112" cy="1920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34640"/>
                <a:gridCol w="3657600"/>
                <a:gridCol w="4690872"/>
              </a:tblGrid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60" b="1" i="0">
                          <a:solidFill>
                            <a:srgbClr val="FFFFFF"/>
                          </a:solidFill>
                          <a:latin typeface="Helvetica Neue"/>
                          <a:ea typeface="PingFang SC"/>
                        </a:rPr>
                        <a:t>触发路</a:t>
                      </a:r>
                    </a:p>
                  </a:txBody>
                  <a:tcPr anchor="ctr" marL="91440" marR="64008" marT="27432" marB="27432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60" b="1" i="0">
                          <a:solidFill>
                            <a:srgbClr val="FFFFFF"/>
                          </a:solidFill>
                          <a:latin typeface="Helvetica Neue"/>
                          <a:ea typeface="PingFang SC"/>
                        </a:rPr>
                        <a:t>什么时候</a:t>
                      </a:r>
                    </a:p>
                  </a:txBody>
                  <a:tcPr anchor="ctr" marL="91440" marR="64008" marT="27432" marB="27432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60" b="1" i="0">
                          <a:solidFill>
                            <a:srgbClr val="FFFFFF"/>
                          </a:solidFill>
                          <a:latin typeface="Helvetica Neue"/>
                          <a:ea typeface="PingFang SC"/>
                        </a:rPr>
                        <a:t>备注</a:t>
                      </a:r>
                    </a:p>
                  </a:txBody>
                  <a:tcPr anchor="ctr" marL="91440" marR="64008" marT="27432" marB="27432">
                    <a:solidFill>
                      <a:srgbClr val="1B2A4A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60" b="1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① 每日全仓巡检 (v8 新)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6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每天 15:00, 4 路并发工作队列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6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所有【有档案】持仓逐个重评 (含盈利/止损OFF仓)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60" b="1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② 事件型盘中大跌 (v8.3 改)</a:t>
                      </a:r>
                    </a:p>
                  </a:txBody>
                  <a:tcPr anchor="ctr" marL="91440" marR="64008" marT="27432" marB="27432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6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从"持有期最好点"回撤 ≥5pp</a:t>
                      </a:r>
                    </a:p>
                  </a:txBody>
                  <a:tcPr anchor="ctr" marL="91440" marR="64008" marT="27432" marB="27432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6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任何盈亏水平触发1次; 单次暴跌只算1次; 无时间冷却 (收敛/混合改直接平仓, 不走这路)</a:t>
                      </a:r>
                    </a:p>
                  </a:txBody>
                  <a:tcPr anchor="ctr" marL="91440" marR="64008" marT="27432" marB="27432">
                    <a:solidFill>
                      <a:srgbClr val="F3F5F9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60" b="1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③ 反向推荐触发 (v8 新)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6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选品推荐了已持仓的反方向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6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拒买之余, 立刻重评该仓 + 注入反向理由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02920" y="4343400"/>
            <a:ext cx="111858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</a:pPr>
            <a:r>
              <a:rPr sz="121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210" b="1" i="0">
                <a:solidFill>
                  <a:srgbClr val="222B36"/>
                </a:solidFill>
                <a:latin typeface="Helvetica Neue"/>
                <a:ea typeface="PingFang SC"/>
              </a:rPr>
              <a:t>无档案仓一律不重评 (硬规矩): </a:t>
            </a:r>
            <a:r>
              <a:rPr sz="1210" b="0" i="0">
                <a:solidFill>
                  <a:srgbClr val="222B36"/>
                </a:solidFill>
                <a:latin typeface="Helvetica Neue"/>
                <a:ea typeface="PingFang SC"/>
              </a:rPr>
              <a:t>方向/q/tier 无从谈起, 挡在重评入口, 主页 🔴 红警等人补档案 — 绝不默认成 YES 反着评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</a:pPr>
            <a:r>
              <a:rPr sz="121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210" b="1" i="0">
                <a:solidFill>
                  <a:srgbClr val="222B36"/>
                </a:solidFill>
                <a:latin typeface="Helvetica Neue"/>
                <a:ea typeface="PingFang SC"/>
              </a:rPr>
              <a:t>反向推荐为什么要联动: </a:t>
            </a:r>
            <a:r>
              <a:rPr sz="1210" b="0" i="0">
                <a:solidFill>
                  <a:srgbClr val="222B36"/>
                </a:solidFill>
                <a:latin typeface="Helvetica Neue"/>
                <a:ea typeface="PingFang SC"/>
              </a:rPr>
              <a:t>选品刚看空一个我持有的方向 = 有新信息, "既不盲从也不护短", 把反向理由原文喂给重评模型, 让它重新判一次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</a:pPr>
            <a:r>
              <a:rPr sz="121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210" b="1" i="0">
                <a:solidFill>
                  <a:srgbClr val="222B36"/>
                </a:solidFill>
                <a:latin typeface="Helvetica Neue"/>
                <a:ea typeface="PingFang SC"/>
              </a:rPr>
              <a:t>4 路并发怎么来的: </a:t>
            </a:r>
            <a:r>
              <a:rPr sz="1210" b="0" i="0">
                <a:solidFill>
                  <a:srgbClr val="222B36"/>
                </a:solidFill>
                <a:latin typeface="Helvetica Neue"/>
                <a:ea typeface="PingFang SC"/>
              </a:rPr>
              <a:t>串行一个一个评太慢 (GLM 深搜单仓能 30–60 分钟), 学选品改成工作队列, 一个评完下一个顶上; 配套放宽了"判死线"防误杀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</a:pPr>
            <a:r>
              <a:rPr sz="121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210" b="1" i="0">
                <a:solidFill>
                  <a:srgbClr val="222B36"/>
                </a:solidFill>
                <a:latin typeface="Helvetica Neue"/>
                <a:ea typeface="PingFang SC"/>
              </a:rPr>
              <a:t>哪里看: </a:t>
            </a:r>
            <a:r>
              <a:rPr sz="1210" b="0" i="0">
                <a:solidFill>
                  <a:srgbClr val="222B36"/>
                </a:solidFill>
                <a:latin typeface="Helvetica Neue"/>
                <a:ea typeface="PingFang SC"/>
              </a:rPr>
              <a:t>首页看板每仓的重评卡 — 显示触发原因 (如"反向推荐触发: …")、决策、信源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74320"/>
            <a:ext cx="77724" cy="42062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4088" y="109728"/>
            <a:ext cx="1118585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FB6D9"/>
                </a:solidFill>
                <a:latin typeface="Helvetica Neue"/>
                <a:ea typeface="PingFang SC"/>
              </a:rPr>
              <a:t>11 · 自动重评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329184"/>
            <a:ext cx="1118585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150" b="1" i="0">
                <a:solidFill>
                  <a:srgbClr val="FFFFFF"/>
                </a:solidFill>
                <a:latin typeface="Helvetica Neue"/>
                <a:ea typeface="PingFang SC"/>
              </a:rPr>
              <a:t>自动重评 ② — 怎么决定、谁执行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46520"/>
            <a:ext cx="11185855" cy="12801"/>
          </a:xfrm>
          <a:prstGeom prst="rect">
            <a:avLst/>
          </a:prstGeom>
          <a:solidFill>
            <a:srgbClr val="D5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3A3"/>
                </a:solidFill>
                <a:latin typeface="Helvetica Neue"/>
                <a:ea typeface="PingFang SC"/>
              </a:rPr>
              <a:t>Polymarket AUTO 全自动交易 · 项目分享 v8.5.3 · 2026-07-24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45575" y="6510528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3A3"/>
                </a:solidFill>
                <a:latin typeface="Helvetica Neue"/>
                <a:ea typeface="PingFang SC"/>
              </a:rPr>
              <a:t>第 13 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042415"/>
            <a:ext cx="111858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B2A4A"/>
                </a:solidFill>
                <a:latin typeface="Helvetica Neue"/>
                <a:ea typeface="PingFang SC"/>
              </a:rPr>
              <a:t>GLM 联网搜完新闻后必须三选一 (v8.3 删掉了原第四项 cancel_autostop):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371600"/>
            <a:ext cx="3484778" cy="694944"/>
          </a:xfrm>
          <a:prstGeom prst="roundRect">
            <a:avLst>
              <a:gd name="adj" fmla="val 10000"/>
            </a:avLst>
          </a:prstGeom>
          <a:solidFill>
            <a:srgbClr val="243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7784" y="1490472"/>
            <a:ext cx="337505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FFFFFF"/>
                </a:solidFill>
                <a:latin typeface="Helvetica Neue"/>
                <a:ea typeface="PingFang SC"/>
              </a:rPr>
              <a:t>hold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9D6EC"/>
                </a:solidFill>
                <a:latin typeface="Helvetica Neue"/>
                <a:ea typeface="PingFang SC"/>
              </a:rPr>
              <a:t>继续拿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87698" y="1572768"/>
            <a:ext cx="3657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E74B5"/>
                </a:solidFill>
                <a:latin typeface="Helvetica Neue"/>
                <a:ea typeface="PingFang SC"/>
              </a:rPr>
              <a:t>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53458" y="1371600"/>
            <a:ext cx="3484778" cy="694944"/>
          </a:xfrm>
          <a:prstGeom prst="roundRect">
            <a:avLst>
              <a:gd name="adj" fmla="val 10000"/>
            </a:avLst>
          </a:prstGeom>
          <a:solidFill>
            <a:srgbClr val="243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08322" y="1490472"/>
            <a:ext cx="337505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FFFFFF"/>
                </a:solidFill>
                <a:latin typeface="Helvetica Neue"/>
                <a:ea typeface="PingFang SC"/>
              </a:rPr>
              <a:t>update_q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9D6EC"/>
                </a:solidFill>
                <a:latin typeface="Helvetica Neue"/>
                <a:ea typeface="PingFang SC"/>
              </a:rPr>
              <a:t>改胜率, 继续拿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38236" y="1572768"/>
            <a:ext cx="3657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E74B5"/>
                </a:solidFill>
                <a:latin typeface="Helvetica Neue"/>
                <a:ea typeface="PingFang SC"/>
              </a:rPr>
              <a:t>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03996" y="1371600"/>
            <a:ext cx="3484778" cy="694944"/>
          </a:xfrm>
          <a:prstGeom prst="roundRect">
            <a:avLst>
              <a:gd name="adj" fmla="val 10000"/>
            </a:avLst>
          </a:prstGeom>
          <a:solidFill>
            <a:srgbClr val="243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58860" y="1490472"/>
            <a:ext cx="337505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FFFFFF"/>
                </a:solidFill>
                <a:latin typeface="Helvetica Neue"/>
                <a:ea typeface="PingFang SC"/>
              </a:rPr>
              <a:t>exit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C9D6EC"/>
                </a:solidFill>
                <a:latin typeface="Helvetica Neue"/>
                <a:ea typeface="PingFang SC"/>
              </a:rPr>
              <a:t>立刻卖掉 (护栏已删, 说卖就卖)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2286000"/>
            <a:ext cx="5486400" cy="1417320"/>
          </a:xfrm>
          <a:prstGeom prst="roundRect">
            <a:avLst>
              <a:gd name="adj" fmla="val 8000"/>
            </a:avLst>
          </a:prstGeom>
          <a:solidFill>
            <a:srgbClr val="FFF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2368296"/>
            <a:ext cx="68580" cy="1252728"/>
          </a:xfrm>
          <a:prstGeom prst="rect">
            <a:avLst/>
          </a:prstGeom>
          <a:solidFill>
            <a:srgbClr val="8F62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2376" y="2377440"/>
            <a:ext cx="5102352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30" b="1" i="0">
                <a:solidFill>
                  <a:srgbClr val="8F6212"/>
                </a:solidFill>
                <a:latin typeface="Helvetica Neue"/>
                <a:ea typeface="PingFang SC"/>
              </a:rPr>
              <a:t>永远离线自动执行 (AUTO 的默认)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222B36"/>
                </a:solidFill>
                <a:latin typeface="Helvetica Neue"/>
                <a:ea typeface="PingFang SC"/>
              </a:rPr>
              <a:t>AUTO_FORCE_OFFLINE=1: 重评决策直接自动执行, exit 会真的卖 —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222B36"/>
                </a:solidFill>
                <a:latin typeface="Helvetica Neue"/>
                <a:ea typeface="PingFang SC"/>
              </a:rPr>
              <a:t>没有人工确认这一步 (老半自动版分"在线只建议 / 离线才执行",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222B36"/>
                </a:solidFill>
                <a:latin typeface="Helvetica Neue"/>
                <a:ea typeface="PingFang SC"/>
              </a:rPr>
              <a:t>AUTO 把它简化成永远自动)。打开页面看盘也不暂停自动化。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9632" y="2286000"/>
            <a:ext cx="5486400" cy="1417320"/>
          </a:xfrm>
          <a:prstGeom prst="roundRect">
            <a:avLst>
              <a:gd name="adj" fmla="val 8000"/>
            </a:avLst>
          </a:prstGeom>
          <a:solidFill>
            <a:srgbClr val="E3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99632" y="2368296"/>
            <a:ext cx="68580" cy="1252728"/>
          </a:xfrm>
          <a:prstGeom prst="rect">
            <a:avLst/>
          </a:prstGeom>
          <a:solidFill>
            <a:srgbClr val="1E7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19088" y="2377440"/>
            <a:ext cx="5102352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30" b="1" i="0">
                <a:solidFill>
                  <a:srgbClr val="1E7B4F"/>
                </a:solidFill>
                <a:latin typeface="Helvetica Neue"/>
                <a:ea typeface="PingFang SC"/>
              </a:rPr>
              <a:t>方向纠错两道闸 (防 GLM 把数字填反)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222B36"/>
                </a:solidFill>
                <a:latin typeface="Helvetica Neue"/>
                <a:ea typeface="PingFang SC"/>
              </a:rPr>
              <a:t>① 新胜率疑似镜像翻转 (持 NO 却填了 YES 的数) → 反问 GLM 本人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222B36"/>
                </a:solidFill>
                <a:latin typeface="Helvetica Neue"/>
                <a:ea typeface="PingFang SC"/>
              </a:rPr>
              <a:t>要"持有方向的 q", 确认不了 = 本轮放弃不动仓。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100" b="0" i="0">
                <a:solidFill>
                  <a:srgbClr val="222B36"/>
                </a:solidFill>
                <a:latin typeface="Helvetica Neue"/>
                <a:ea typeface="PingFang SC"/>
              </a:rPr>
              <a:t>② 数字被更正过且原决定是 exit → 再追问一次最终动作, 按最终答案走。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3913632"/>
            <a:ext cx="111858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</a:pPr>
            <a:r>
              <a:rPr sz="121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210" b="1" i="0">
                <a:solidFill>
                  <a:srgbClr val="222B36"/>
                </a:solidFill>
                <a:latin typeface="Helvetica Neue"/>
                <a:ea typeface="PingFang SC"/>
              </a:rPr>
              <a:t>反锚定 (治"坑底卖飞"): </a:t>
            </a:r>
            <a:r>
              <a:rPr sz="1210" b="0" i="0">
                <a:solidFill>
                  <a:srgbClr val="222B36"/>
                </a:solidFill>
                <a:latin typeface="Helvetica Neue"/>
                <a:ea typeface="PingFang SC"/>
              </a:rPr>
              <a:t>提示词里喂给 GLM「大跌前中枢价」(排除最近几小时), 不许拿砸盘后的坑底现价当"合理价"锚 — 老项目曾在坑底被卖飞 ~$16, 病根就是这个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</a:pPr>
            <a:r>
              <a:rPr sz="121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210" b="1" i="0">
                <a:solidFill>
                  <a:srgbClr val="222B36"/>
                </a:solidFill>
                <a:latin typeface="Helvetica Neue"/>
                <a:ea typeface="PingFang SC"/>
              </a:rPr>
              <a:t>事件型 exit 不再拦 (v8.1.0): </a:t>
            </a:r>
            <a:r>
              <a:rPr sz="1210" b="0" i="0">
                <a:solidFill>
                  <a:srgbClr val="222B36"/>
                </a:solidFill>
                <a:latin typeface="Helvetica Neue"/>
                <a:ea typeface="PingFang SC"/>
              </a:rPr>
              <a:t>原来那道"论点被重大新闻推翻 或 新胜率比现价低≥8点才放行卖"的护栏删了 — GLM 一判 exit 立刻执行; 只保留方向纠错闸 (防 GLM 把胜率数字填反卖错边)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800"/>
              </a:spcAft>
            </a:pPr>
            <a:r>
              <a:rPr sz="121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210" b="1" i="0">
                <a:solidFill>
                  <a:srgbClr val="222B36"/>
                </a:solidFill>
                <a:latin typeface="Helvetica Neue"/>
                <a:ea typeface="PingFang SC"/>
              </a:rPr>
              <a:t>安全底线: </a:t>
            </a:r>
            <a:r>
              <a:rPr sz="1210" b="0" i="0">
                <a:solidFill>
                  <a:srgbClr val="222B36"/>
                </a:solidFill>
                <a:latin typeface="Helvetica Neue"/>
                <a:ea typeface="PingFang SC"/>
              </a:rPr>
              <a:t>GLM 给的决策不合法 → 直接丢弃, 绝不进执行; 模型失败 → 不动仓位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74320"/>
            <a:ext cx="77724" cy="42062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4088" y="109728"/>
            <a:ext cx="1118585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FB6D9"/>
                </a:solidFill>
                <a:latin typeface="Helvetica Neue"/>
                <a:ea typeface="PingFang SC"/>
              </a:rPr>
              <a:t>12 · 自动重评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329184"/>
            <a:ext cx="1118585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150" b="1" i="0">
                <a:solidFill>
                  <a:srgbClr val="FFFFFF"/>
                </a:solidFill>
                <a:latin typeface="Helvetica Neue"/>
                <a:ea typeface="PingFang SC"/>
              </a:rPr>
              <a:t>用哪个 AI — GLM 主 / Claude 兜底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46520"/>
            <a:ext cx="11185855" cy="12801"/>
          </a:xfrm>
          <a:prstGeom prst="rect">
            <a:avLst/>
          </a:prstGeom>
          <a:solidFill>
            <a:srgbClr val="D5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3A3"/>
                </a:solidFill>
                <a:latin typeface="Helvetica Neue"/>
                <a:ea typeface="PingFang SC"/>
              </a:rPr>
              <a:t>Polymarket AUTO 全自动交易 · 项目分享 v8.5.3 · 2026-07-24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45575" y="6510528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3A3"/>
                </a:solidFill>
                <a:latin typeface="Helvetica Neue"/>
                <a:ea typeface="PingFang SC"/>
              </a:rPr>
              <a:t>第 14 页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188720"/>
          <a:ext cx="11183112" cy="14081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86000"/>
                <a:gridCol w="2926080"/>
                <a:gridCol w="5971032"/>
              </a:tblGrid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Helvetica Neue"/>
                          <a:ea typeface="PingFang SC"/>
                        </a:rPr>
                        <a:t>角色</a:t>
                      </a:r>
                    </a:p>
                  </a:txBody>
                  <a:tcPr anchor="ctr" marL="91440" marR="64008" marT="27432" marB="27432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Helvetica Neue"/>
                          <a:ea typeface="PingFang SC"/>
                        </a:rPr>
                        <a:t>模型</a:t>
                      </a:r>
                    </a:p>
                  </a:txBody>
                  <a:tcPr anchor="ctr" marL="91440" marR="64008" marT="27432" marB="27432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Helvetica Neue"/>
                          <a:ea typeface="PingFang SC"/>
                        </a:rPr>
                        <a:t>说明</a:t>
                      </a:r>
                    </a:p>
                  </a:txBody>
                  <a:tcPr anchor="ctr" marL="91440" marR="64008" marT="27432" marB="27432">
                    <a:solidFill>
                      <a:srgbClr val="1B2A4A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1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主用 (说了算)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智谱 GLM-5.2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选品 + 重评全走它; search_pro 专业搜索 + thinking 拉满 + 多轮自主搜索; 解析带正则兜底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1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兜底 (备用)</a:t>
                      </a:r>
                    </a:p>
                  </a:txBody>
                  <a:tcPr anchor="ctr" marL="91440" marR="64008" marT="27432" marB="27432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Claude</a:t>
                      </a:r>
                    </a:p>
                  </a:txBody>
                  <a:tcPr anchor="ctr" marL="91440" marR="64008" marT="27432" marB="27432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20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仅"GLM 那次失败"才顶上, 平时零 Claude 花费 (AUTO_REEVAL_PRIMARY=glm, 不双跑)</a:t>
                      </a:r>
                    </a:p>
                  </a:txBody>
                  <a:tcPr anchor="ctr" marL="91440" marR="64008" marT="27432" marB="27432">
                    <a:solidFill>
                      <a:srgbClr val="F3F5F9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02920" y="2971800"/>
            <a:ext cx="111858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000"/>
              </a:spcAft>
            </a:pPr>
            <a:r>
              <a:rPr sz="123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230" b="1" i="0">
                <a:solidFill>
                  <a:srgbClr val="222B36"/>
                </a:solidFill>
                <a:latin typeface="Helvetica Neue"/>
                <a:ea typeface="PingFang SC"/>
              </a:rPr>
              <a:t>为什么反过来 (老版是 Claude 主): </a:t>
            </a:r>
            <a:r>
              <a:rPr sz="1230" b="0" i="0">
                <a:solidFill>
                  <a:srgbClr val="222B36"/>
                </a:solidFill>
                <a:latin typeface="Helvetica Neue"/>
                <a:ea typeface="PingFang SC"/>
              </a:rPr>
              <a:t>这个全自动账户全程用智谱 GLM 跑 (两把 key 分工); Claude 只做"GLM 挂了那一次"的兜底, 不主动花钱 — 平时账单只有 GLM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000"/>
              </a:spcAft>
            </a:pPr>
            <a:r>
              <a:rPr sz="123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230" b="1" i="0">
                <a:solidFill>
                  <a:srgbClr val="222B36"/>
                </a:solidFill>
                <a:latin typeface="Helvetica Neue"/>
                <a:ea typeface="PingFang SC"/>
              </a:rPr>
              <a:t>不双跑: </a:t>
            </a:r>
            <a:r>
              <a:rPr sz="1230" b="0" i="0">
                <a:solidFill>
                  <a:srgbClr val="222B36"/>
                </a:solidFill>
                <a:latin typeface="Helvetica Neue"/>
                <a:ea typeface="PingFang SC"/>
              </a:rPr>
              <a:t>用户明确否掉"两家并行跑取交集"— 省钱、也省得两套结论打架; 主用 GLM 给合法决策就执行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000"/>
              </a:spcAft>
            </a:pPr>
            <a:r>
              <a:rPr sz="123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230" b="1" i="0">
                <a:solidFill>
                  <a:srgbClr val="222B36"/>
                </a:solidFill>
                <a:latin typeface="Helvetica Neue"/>
                <a:ea typeface="PingFang SC"/>
              </a:rPr>
              <a:t>紧急暂停: </a:t>
            </a:r>
            <a:r>
              <a:rPr sz="1230" b="0" i="0">
                <a:solidFill>
                  <a:srgbClr val="222B36"/>
                </a:solidFill>
                <a:latin typeface="Helvetica Neue"/>
                <a:ea typeface="PingFang SC"/>
              </a:rPr>
              <a:t>编排配错 (比如兜底 key 没配) 启动时会大声告警; 决策不合法一律丢弃, 不会退回盲卖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000"/>
              </a:spcAft>
            </a:pPr>
            <a:r>
              <a:rPr sz="123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230" b="1" i="0">
                <a:solidFill>
                  <a:srgbClr val="222B36"/>
                </a:solidFill>
                <a:latin typeface="Helvetica Neue"/>
                <a:ea typeface="PingFang SC"/>
              </a:rPr>
              <a:t>提示词同源: </a:t>
            </a:r>
            <a:r>
              <a:rPr sz="1230" b="0" i="0">
                <a:solidFill>
                  <a:srgbClr val="222B36"/>
                </a:solidFill>
                <a:latin typeface="Helvetica Neue"/>
                <a:ea typeface="PingFang SC"/>
              </a:rPr>
              <a:t>自动重评用的就是当初手动那份提示词内核, 改一处两边同时生效, 只是各自附加决策指令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5212080"/>
            <a:ext cx="11185855" cy="987552"/>
          </a:xfrm>
          <a:prstGeom prst="roundRect">
            <a:avLst>
              <a:gd name="adj" fmla="val 8000"/>
            </a:avLst>
          </a:prstGeom>
          <a:solidFill>
            <a:srgbClr val="FFF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5294376"/>
            <a:ext cx="68580" cy="82296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2376" y="5303520"/>
            <a:ext cx="10801807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30" b="1" i="0">
                <a:solidFill>
                  <a:srgbClr val="C9A227"/>
                </a:solidFill>
                <a:latin typeface="Helvetica Neue"/>
                <a:ea typeface="PingFang SC"/>
              </a:rPr>
              <a:t>钱花在哪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130" b="0" i="0">
                <a:solidFill>
                  <a:srgbClr val="222B36"/>
                </a:solidFill>
                <a:latin typeface="Helvetica Neue"/>
                <a:ea typeface="PingFang SC"/>
              </a:rPr>
              <a:t>选品 (每个够门槛的 tag 一次 GLM) 和自动重评 (每日巡检/大跌/反向推荐) 会调 GLM 付费 API — 这是 AUTO 的主要开销。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130" b="0" i="0">
                <a:solidFill>
                  <a:srgbClr val="222B36"/>
                </a:solidFill>
                <a:latin typeface="Helvetica Neue"/>
                <a:ea typeface="PingFang SC"/>
              </a:rPr>
              <a:t>测试仓全程零 API (只读行情)。两把 key 分开记账, 选品花多少、重评花多少一目了然。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74320"/>
            <a:ext cx="77724" cy="42062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4088" y="109728"/>
            <a:ext cx="1118585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FB6D9"/>
                </a:solidFill>
                <a:latin typeface="Helvetica Neue"/>
                <a:ea typeface="PingFang SC"/>
              </a:rPr>
              <a:t>13 · 资金风控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329184"/>
            <a:ext cx="1118585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150" b="1" i="0">
                <a:solidFill>
                  <a:srgbClr val="FFFFFF"/>
                </a:solidFill>
                <a:latin typeface="Helvetica Neue"/>
                <a:ea typeface="PingFang SC"/>
              </a:rPr>
              <a:t>钱的总规矩 — 风控红线一页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46520"/>
            <a:ext cx="11185855" cy="12801"/>
          </a:xfrm>
          <a:prstGeom prst="rect">
            <a:avLst/>
          </a:prstGeom>
          <a:solidFill>
            <a:srgbClr val="D5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3A3"/>
                </a:solidFill>
                <a:latin typeface="Helvetica Neue"/>
                <a:ea typeface="PingFang SC"/>
              </a:rPr>
              <a:t>Polymarket AUTO 全自动交易 · 项目分享 v8.5.3 · 2026-07-24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45575" y="6510528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3A3"/>
                </a:solidFill>
                <a:latin typeface="Helvetica Neue"/>
                <a:ea typeface="PingFang SC"/>
              </a:rPr>
              <a:t>第 15 页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133856"/>
            <a:ext cx="2631871" cy="868680"/>
          </a:xfrm>
          <a:prstGeom prst="roundRect">
            <a:avLst>
              <a:gd name="adj" fmla="val 12000"/>
            </a:avLst>
          </a:prstGeom>
          <a:solidFill>
            <a:srgbClr val="F5F7FA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6072" y="1280160"/>
            <a:ext cx="248556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B2A4A"/>
                </a:solidFill>
                <a:latin typeface="Helvetica Neue"/>
                <a:ea typeface="PingFang SC"/>
              </a:rPr>
              <a:t>$1 – 15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" y="1618488"/>
            <a:ext cx="248556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707F"/>
                </a:solidFill>
                <a:latin typeface="Helvetica Neue"/>
                <a:ea typeface="PingFang SC"/>
              </a:rPr>
              <a:t>单仓上下限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54247" y="1133856"/>
            <a:ext cx="2631871" cy="868680"/>
          </a:xfrm>
          <a:prstGeom prst="roundRect">
            <a:avLst>
              <a:gd name="adj" fmla="val 12000"/>
            </a:avLst>
          </a:prstGeom>
          <a:solidFill>
            <a:srgbClr val="F5F7FA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27399" y="1280160"/>
            <a:ext cx="248556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B2A4A"/>
                </a:solidFill>
                <a:latin typeface="Helvetica Neue"/>
                <a:ea typeface="PingFang SC"/>
              </a:rPr>
              <a:t>≤ 20%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7399" y="1618488"/>
            <a:ext cx="248556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707F"/>
                </a:solidFill>
                <a:latin typeface="Helvetica Neue"/>
                <a:ea typeface="PingFang SC"/>
              </a:rPr>
              <a:t>单主题簇上限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05575" y="1133856"/>
            <a:ext cx="2631871" cy="868680"/>
          </a:xfrm>
          <a:prstGeom prst="roundRect">
            <a:avLst>
              <a:gd name="adj" fmla="val 12000"/>
            </a:avLst>
          </a:prstGeom>
          <a:solidFill>
            <a:srgbClr val="F5F7FA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78727" y="1280160"/>
            <a:ext cx="248556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B2A4A"/>
                </a:solidFill>
                <a:latin typeface="Helvetica Neue"/>
                <a:ea typeface="PingFang SC"/>
              </a:rPr>
              <a:t>$0.05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78727" y="1618488"/>
            <a:ext cx="248556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707F"/>
                </a:solidFill>
                <a:latin typeface="Helvetica Neue"/>
                <a:ea typeface="PingFang SC"/>
              </a:rPr>
              <a:t>绝对地板价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56903" y="1133856"/>
            <a:ext cx="2631871" cy="868680"/>
          </a:xfrm>
          <a:prstGeom prst="roundRect">
            <a:avLst>
              <a:gd name="adj" fmla="val 12000"/>
            </a:avLst>
          </a:prstGeom>
          <a:solidFill>
            <a:srgbClr val="F5F7FA"/>
          </a:solidFill>
          <a:ln w="9525">
            <a:solidFill>
              <a:srgbClr val="DD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30055" y="1280160"/>
            <a:ext cx="2485567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B2A4A"/>
                </a:solidFill>
                <a:latin typeface="Helvetica Neue"/>
                <a:ea typeface="PingFang SC"/>
              </a:rPr>
              <a:t>sig =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30055" y="1618488"/>
            <a:ext cx="2485567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707F"/>
                </a:solidFill>
                <a:latin typeface="Helvetica Neue"/>
                <a:ea typeface="PingFang SC"/>
              </a:rPr>
              <a:t>存款钱包新架构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2286000"/>
            <a:ext cx="111858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300"/>
              </a:spcAft>
            </a:pPr>
            <a:r>
              <a:rPr sz="125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250" b="1" i="0">
                <a:solidFill>
                  <a:srgbClr val="222B36"/>
                </a:solidFill>
                <a:latin typeface="Helvetica Neue"/>
                <a:ea typeface="PingFang SC"/>
              </a:rPr>
              <a:t>买入全自动 (与老版相反): </a:t>
            </a:r>
            <a:r>
              <a:rPr sz="1250" b="0" i="0">
                <a:solidFill>
                  <a:srgbClr val="222B36"/>
                </a:solidFill>
                <a:latin typeface="Helvetica Neue"/>
                <a:ea typeface="PingFang SC"/>
              </a:rPr>
              <a:t>auto_trader 按写死的 40–85 分流规则自动下单; 老半自动版反复强调"bot 没有自动买入", AUTO 恰恰把这步交给了程序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300"/>
              </a:spcAft>
            </a:pPr>
            <a:r>
              <a:rPr sz="125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250" b="1" i="0">
                <a:solidFill>
                  <a:srgbClr val="222B36"/>
                </a:solidFill>
                <a:latin typeface="Helvetica Neue"/>
                <a:ea typeface="PingFang SC"/>
              </a:rPr>
              <a:t>无日限额、无仓位数上限: </a:t>
            </a:r>
            <a:r>
              <a:rPr sz="1250" b="0" i="0">
                <a:solidFill>
                  <a:srgbClr val="222B36"/>
                </a:solidFill>
                <a:latin typeface="Helvetica Neue"/>
                <a:ea typeface="PingFang SC"/>
              </a:rPr>
              <a:t>用户拍板不设限 (判断逻辑保留, 以后要限改一行 env); 单仓金额天然由 sizing 公式 + $15 硬顶管住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300"/>
              </a:spcAft>
            </a:pPr>
            <a:r>
              <a:rPr sz="125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250" b="1" i="0">
                <a:solidFill>
                  <a:srgbClr val="222B36"/>
                </a:solidFill>
                <a:latin typeface="Helvetica Neue"/>
                <a:ea typeface="PingFang SC"/>
              </a:rPr>
              <a:t>宇宙铁律: </a:t>
            </a:r>
            <a:r>
              <a:rPr sz="1250" b="0" i="0">
                <a:solidFill>
                  <a:srgbClr val="222B36"/>
                </a:solidFill>
                <a:latin typeface="Helvetica Neue"/>
                <a:ea typeface="PingFang SC"/>
              </a:rPr>
              <a:t>只交易"白名单 tag 的扫描报告里真实出现"的市场 (双重闸门: tag 在白名单 + slug 在该 tag 报告里); 关键词黑名单命中 → 强制只进测试仓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300"/>
              </a:spcAft>
            </a:pPr>
            <a:r>
              <a:rPr sz="125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250" b="1" i="0">
                <a:solidFill>
                  <a:srgbClr val="222B36"/>
                </a:solidFill>
                <a:latin typeface="Helvetica Neue"/>
                <a:ea typeface="PingFang SC"/>
              </a:rPr>
              <a:t>自动卖出的口: </a:t>
            </a:r>
            <a:r>
              <a:rPr sz="1250" b="0" i="0">
                <a:solidFill>
                  <a:srgbClr val="222B36"/>
                </a:solidFill>
                <a:latin typeface="Helvetica Neue"/>
                <a:ea typeface="PingFang SC"/>
              </a:rPr>
              <a:t>止盈到线 / 移动止损确认 / 时间止损 / 跌破 $0.05 地板 / 自动重评判 exit — 每笔卖出都落账进已平仓表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300"/>
              </a:spcAft>
            </a:pPr>
            <a:r>
              <a:rPr sz="125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250" b="1" i="0">
                <a:solidFill>
                  <a:srgbClr val="222B36"/>
                </a:solidFill>
                <a:latin typeface="Helvetica Neue"/>
                <a:ea typeface="PingFang SC"/>
              </a:rPr>
              <a:t>账户与隔离: </a:t>
            </a:r>
            <a:r>
              <a:rPr sz="1250" b="0" i="0">
                <a:solidFill>
                  <a:srgbClr val="222B36"/>
                </a:solidFill>
                <a:latin typeface="Helvetica Neue"/>
                <a:ea typeface="PingFang SC"/>
              </a:rPr>
              <a:t>Polymarket 新架构存款钱包 (必须 sig=3 签名), 端口 5052, 独立 .env / 数据库 / git, 与老账户零关联; 密钥只在本机 (永不进 git)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300"/>
              </a:spcAft>
            </a:pPr>
            <a:r>
              <a:rPr sz="125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250" b="1" i="0">
                <a:solidFill>
                  <a:srgbClr val="222B36"/>
                </a:solidFill>
                <a:latin typeface="Helvetica Neue"/>
                <a:ea typeface="PingFang SC"/>
              </a:rPr>
              <a:t>数据保底: </a:t>
            </a:r>
            <a:r>
              <a:rPr sz="1250" b="0" i="0">
                <a:solidFill>
                  <a:srgbClr val="222B36"/>
                </a:solidFill>
                <a:latin typeface="Helvetica Neue"/>
                <a:ea typeface="PingFang SC"/>
              </a:rPr>
              <a:t>每 30 分钟资产快照; 已平仓账目与 Polymarket 官方逐笔成交对齐; SQLite WAL, 时区一律 UTC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74320"/>
            <a:ext cx="77724" cy="42062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4088" y="109728"/>
            <a:ext cx="1118585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FB6D9"/>
                </a:solidFill>
                <a:latin typeface="Helvetica Neue"/>
                <a:ea typeface="PingFang SC"/>
              </a:rPr>
              <a:t>14 · 测试仓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329184"/>
            <a:ext cx="1118585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150" b="1" i="0">
                <a:solidFill>
                  <a:srgbClr val="FFFFFF"/>
                </a:solidFill>
                <a:latin typeface="Helvetica Neue"/>
                <a:ea typeface="PingFang SC"/>
              </a:rPr>
              <a:t>测试仓 /paper — 不花钱的模拟盘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46520"/>
            <a:ext cx="11185855" cy="12801"/>
          </a:xfrm>
          <a:prstGeom prst="rect">
            <a:avLst/>
          </a:prstGeom>
          <a:solidFill>
            <a:srgbClr val="D5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3A3"/>
                </a:solidFill>
                <a:latin typeface="Helvetica Neue"/>
                <a:ea typeface="PingFang SC"/>
              </a:rPr>
              <a:t>Polymarket AUTO 全自动交易 · 项目分享 v8.5.3 · 2026-07-24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45575" y="6510528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3A3"/>
                </a:solidFill>
                <a:latin typeface="Helvetica Neue"/>
                <a:ea typeface="PingFang SC"/>
              </a:rPr>
              <a:t>第 16 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170432"/>
            <a:ext cx="111858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200"/>
              </a:spcAft>
            </a:pPr>
            <a:r>
              <a:rPr sz="126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260" b="1" i="0">
                <a:solidFill>
                  <a:srgbClr val="222B36"/>
                </a:solidFill>
                <a:latin typeface="Helvetica Neue"/>
                <a:ea typeface="PingFang SC"/>
              </a:rPr>
              <a:t>干嘛用: </a:t>
            </a:r>
            <a:r>
              <a:rPr sz="1260" b="0" i="0">
                <a:solidFill>
                  <a:srgbClr val="222B36"/>
                </a:solidFill>
                <a:latin typeface="Helvetica Neue"/>
                <a:ea typeface="PingFang SC"/>
              </a:rPr>
              <a:t>GLM 推荐里价格漂到 40–85 之外的、或命中黑名单的, 一律先丢这, 一分钱不花, 跑和真仓完全同一套盯盘算法, 验证 GLM 到底准不准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200"/>
              </a:spcAft>
            </a:pPr>
            <a:r>
              <a:rPr sz="126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260" b="1" i="0">
                <a:solidFill>
                  <a:srgbClr val="222B36"/>
                </a:solidFill>
                <a:latin typeface="Helvetica Neue"/>
                <a:ea typeface="PingFang SC"/>
              </a:rPr>
              <a:t>自动进 (v8): </a:t>
            </a:r>
            <a:r>
              <a:rPr sz="1260" b="0" i="0">
                <a:solidFill>
                  <a:srgbClr val="222B36"/>
                </a:solidFill>
                <a:latin typeface="Helvetica Neue"/>
                <a:ea typeface="PingFang SC"/>
              </a:rPr>
              <a:t>分流规则判定"测试仓"的候选自动录入 (金额用真仓同款公式算, 兜底 $5); 黑名单命中的会标"paper:黑名单强制"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200"/>
              </a:spcAft>
            </a:pPr>
            <a:r>
              <a:rPr sz="126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260" b="1" i="0">
                <a:solidFill>
                  <a:srgbClr val="222B36"/>
                </a:solidFill>
                <a:latin typeface="Helvetica Neue"/>
                <a:ea typeface="PingFang SC"/>
              </a:rPr>
              <a:t>它做什么: </a:t>
            </a:r>
            <a:r>
              <a:rPr sz="1260" b="0" i="0">
                <a:solidFill>
                  <a:srgbClr val="222B36"/>
                </a:solidFill>
                <a:latin typeface="Helvetica Neue"/>
                <a:ea typeface="PingFang SC"/>
              </a:rPr>
              <a:t>每轮同真仓一起盯 → 算法一"卖"(命中卖出条件)就移到「往期测试仓」→ 继续盯到结算给最终对错。像真仓一样有生命周期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200"/>
              </a:spcAft>
            </a:pPr>
            <a:r>
              <a:rPr sz="126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260" b="1" i="0">
                <a:solidFill>
                  <a:srgbClr val="222B36"/>
                </a:solidFill>
                <a:latin typeface="Helvetica Neue"/>
                <a:ea typeface="PingFang SC"/>
              </a:rPr>
              <a:t>零操作省钱: </a:t>
            </a:r>
            <a:r>
              <a:rPr sz="1260" b="0" i="0">
                <a:solidFill>
                  <a:srgbClr val="222B36"/>
                </a:solidFill>
                <a:latin typeface="Helvetica Neue"/>
                <a:ea typeface="PingFang SC"/>
              </a:rPr>
              <a:t>测试仓进去后不重评、不提醒、无任何后续 API 操作 (省钱); 只保留免费盯价 + 模拟卖点记录 (走公开行情)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200"/>
              </a:spcAft>
            </a:pPr>
            <a:r>
              <a:rPr sz="126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260" b="1" i="0">
                <a:solidFill>
                  <a:srgbClr val="222B36"/>
                </a:solidFill>
                <a:latin typeface="Helvetica Neue"/>
                <a:ea typeface="PingFang SC"/>
              </a:rPr>
              <a:t>往期 + 统计: </a:t>
            </a:r>
            <a:r>
              <a:rPr sz="1260" b="0" i="0">
                <a:solidFill>
                  <a:srgbClr val="222B36"/>
                </a:solidFill>
                <a:latin typeface="Helvetica Neue"/>
                <a:ea typeface="PingFang SC"/>
              </a:rPr>
              <a:t>每条: 预测准不准 + 模拟盈亏 + 📈最高点 (本可赚多少); 顶部: 模拟总盈亏 / 赚钱率 / 结算对率 — 一眼看这套 GLM 准不准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200"/>
              </a:spcAft>
            </a:pPr>
            <a:r>
              <a:rPr sz="126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260" b="1" i="0">
                <a:solidFill>
                  <a:srgbClr val="222B36"/>
                </a:solidFill>
                <a:latin typeface="Helvetica Neue"/>
                <a:ea typeface="PingFang SC"/>
              </a:rPr>
              <a:t>AUTO 现在: </a:t>
            </a:r>
            <a:r>
              <a:rPr sz="1260" b="0" i="0">
                <a:solidFill>
                  <a:srgbClr val="222B36"/>
                </a:solidFill>
                <a:latin typeface="Helvetica Neue"/>
                <a:ea typeface="PingFang SC"/>
              </a:rPr>
              <a:t>已经攒了 21 条在跑 (共 24 条, 多是价格漂出区间、或黑名单被拦下来的推荐)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5029200"/>
            <a:ext cx="11185855" cy="1024128"/>
          </a:xfrm>
          <a:prstGeom prst="roundRect">
            <a:avLst>
              <a:gd name="adj" fmla="val 8000"/>
            </a:avLst>
          </a:prstGeom>
          <a:solidFill>
            <a:srgbClr val="FBE7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5111496"/>
            <a:ext cx="68580" cy="859536"/>
          </a:xfrm>
          <a:prstGeom prst="rect">
            <a:avLst/>
          </a:prstGeom>
          <a:solidFill>
            <a:srgbClr val="B33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2376" y="5120640"/>
            <a:ext cx="10801807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30" b="1" i="0">
                <a:solidFill>
                  <a:srgbClr val="B3362B"/>
                </a:solidFill>
                <a:latin typeface="Helvetica Neue"/>
                <a:ea typeface="PingFang SC"/>
              </a:rPr>
              <a:t>🔒 铁律 (代码层隔离, 不是口头约定)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130" b="0" i="0">
                <a:solidFill>
                  <a:srgbClr val="222B36"/>
                </a:solidFill>
                <a:latin typeface="Helvetica Neue"/>
                <a:ea typeface="PingFang SC"/>
              </a:rPr>
              <a:t>测试仓永不碰钱: 不下单、不卖、不调付费 API, 只允许只读拉行情。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130" b="0" i="0">
                <a:solidFill>
                  <a:srgbClr val="222B36"/>
                </a:solidFill>
                <a:latin typeface="Helvetica Neue"/>
                <a:ea typeface="PingFang SC"/>
              </a:rPr>
              <a:t>真仓的自动重评天生够不到它 (独立表 + 独立代码路径)。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74320"/>
            <a:ext cx="77724" cy="42062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4088" y="109728"/>
            <a:ext cx="1118585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FB6D9"/>
                </a:solidFill>
                <a:latin typeface="Helvetica Neue"/>
                <a:ea typeface="PingFang SC"/>
              </a:rPr>
              <a:t>15 · 项目历程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329184"/>
            <a:ext cx="1118585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150" b="1" i="0">
                <a:solidFill>
                  <a:srgbClr val="FFFFFF"/>
                </a:solidFill>
                <a:latin typeface="Helvetica Neue"/>
                <a:ea typeface="PingFang SC"/>
              </a:rPr>
              <a:t>来历 &amp; 版本演进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46520"/>
            <a:ext cx="11185855" cy="12801"/>
          </a:xfrm>
          <a:prstGeom prst="rect">
            <a:avLst/>
          </a:prstGeom>
          <a:solidFill>
            <a:srgbClr val="D5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3A3"/>
                </a:solidFill>
                <a:latin typeface="Helvetica Neue"/>
                <a:ea typeface="PingFang SC"/>
              </a:rPr>
              <a:t>Polymarket AUTO 全自动交易 · 项目分享 v8.5.3 · 2026-07-24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45575" y="6510528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3A3"/>
                </a:solidFill>
                <a:latin typeface="Helvetica Neue"/>
                <a:ea typeface="PingFang SC"/>
              </a:rPr>
              <a:t>第 17 页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078992"/>
            <a:ext cx="11185855" cy="1170432"/>
          </a:xfrm>
          <a:prstGeom prst="roundRect">
            <a:avLst>
              <a:gd name="adj" fmla="val 8000"/>
            </a:avLst>
          </a:prstGeom>
          <a:solidFill>
            <a:srgbClr val="E8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161288"/>
            <a:ext cx="68580" cy="100584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2376" y="1170432"/>
            <a:ext cx="10801807" cy="9875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30" b="1" i="0">
                <a:solidFill>
                  <a:srgbClr val="2E74B5"/>
                </a:solidFill>
                <a:latin typeface="Helvetica Neue"/>
                <a:ea typeface="PingFang SC"/>
              </a:rPr>
              <a:t>来历: 站在两个月踩坑的肩膀上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160" b="0" i="0">
                <a:solidFill>
                  <a:srgbClr val="222B36"/>
                </a:solidFill>
                <a:latin typeface="Helvetica Neue"/>
                <a:ea typeface="PingFang SC"/>
              </a:rPr>
              <a:t>本项目 2026-07-06 从一个跑了两个月、从 v4 迭代到 v7.4 的半自动老项目 fork 而来。那两个月把每一笔真金亏损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160" b="0" i="0">
                <a:solidFill>
                  <a:srgbClr val="222B36"/>
                </a:solidFill>
                <a:latin typeface="Helvetica Neue"/>
                <a:ea typeface="PingFang SC"/>
              </a:rPr>
              <a:t>都变成了规则 —— 三档移动止损、反锚定重评、凯利 sizing、best_bid 防假止盈, 全是坑教出来的。AUTO 直接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160" b="0" i="0">
                <a:solidFill>
                  <a:srgbClr val="222B36"/>
                </a:solidFill>
                <a:latin typeface="Helvetica Neue"/>
                <a:ea typeface="PingFang SC"/>
              </a:rPr>
              <a:t>继承这套久经实测的策略内核, 只把"人工分析 + 人工下单"那两步换成"GLM 自动选品 + 程序自动下单"。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02920" y="2487168"/>
          <a:ext cx="11183112" cy="30723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37360"/>
                <a:gridCol w="5120640"/>
                <a:gridCol w="4325112"/>
              </a:tblGrid>
              <a:tr h="329184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30" b="1" i="0">
                          <a:solidFill>
                            <a:srgbClr val="FFFFFF"/>
                          </a:solidFill>
                          <a:latin typeface="Helvetica Neue"/>
                          <a:ea typeface="PingFang SC"/>
                        </a:rPr>
                        <a:t>时间</a:t>
                      </a:r>
                    </a:p>
                  </a:txBody>
                  <a:tcPr anchor="ctr" marL="91440" marR="64008" marT="27432" marB="27432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30" b="1" i="0">
                          <a:solidFill>
                            <a:srgbClr val="FFFFFF"/>
                          </a:solidFill>
                          <a:latin typeface="Helvetica Neue"/>
                          <a:ea typeface="PingFang SC"/>
                        </a:rPr>
                        <a:t>AUTO 自己干了什么</a:t>
                      </a:r>
                    </a:p>
                  </a:txBody>
                  <a:tcPr anchor="ctr" marL="91440" marR="64008" marT="27432" marB="27432">
                    <a:solidFill>
                      <a:srgbClr val="1B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30" b="1" i="0">
                          <a:solidFill>
                            <a:srgbClr val="FFFFFF"/>
                          </a:solidFill>
                          <a:latin typeface="Helvetica Neue"/>
                          <a:ea typeface="PingFang SC"/>
                        </a:rPr>
                        <a:t>被什么逼出来的</a:t>
                      </a:r>
                    </a:p>
                  </a:txBody>
                  <a:tcPr anchor="ctr" marL="91440" marR="64008" marT="27432" marB="27432">
                    <a:solidFill>
                      <a:srgbClr val="1B2A4A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30" b="1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07-06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3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从半自动老项目 fork 出独立副本 (独立账户/库/端口 5052)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3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要一个专门跑全自动、跟老号彻底隔离的新账户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30" b="1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07-08</a:t>
                      </a:r>
                    </a:p>
                  </a:txBody>
                  <a:tcPr anchor="ctr" marL="91440" marR="64008" marT="27432" marB="27432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3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全自动 5 步全上线 (扫→选→分流→真买→巡检) + 真钱闭环跑通</a:t>
                      </a:r>
                    </a:p>
                  </a:txBody>
                  <a:tcPr anchor="ctr" marL="91440" marR="64008" marT="27432" marB="27432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3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把"人工下单"最后一步也交给程序; 踩了 sig=3 一下午</a:t>
                      </a:r>
                    </a:p>
                  </a:txBody>
                  <a:tcPr anchor="ctr" marL="91440" marR="64008" marT="27432" marB="27432">
                    <a:solidFill>
                      <a:srgbClr val="F3F5F9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30" b="1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07-09~10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3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GLM 多轮自主搜索 + 4 路并发全仓巡检 + 反向推荐触发重评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3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一次性搜索不够深; 串行评仓太慢; 选品看空已持仓要联动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30" b="1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07-11~12</a:t>
                      </a:r>
                    </a:p>
                  </a:txBody>
                  <a:tcPr anchor="ctr" marL="91440" marR="64008" marT="27432" marB="27432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3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Kelly 本金冻结 + 信心乘数 + 黑名单→测试仓 → 收成 v8.0.0 独立版本线</a:t>
                      </a:r>
                    </a:p>
                  </a:txBody>
                  <a:tcPr anchor="ctr" marL="91440" marR="64008" marT="27432" marB="27432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3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加现金别放大单注; 黑名单市场绝不真买</a:t>
                      </a:r>
                    </a:p>
                  </a:txBody>
                  <a:tcPr anchor="ctr" marL="91440" marR="64008" marT="27432" marB="27432">
                    <a:solidFill>
                      <a:srgbClr val="F3F5F9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30" b="1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07-18~20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3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止损收紧 (v8.1→8.3): 事件 -50% 硬止损·删 exit 护栏·收敛也直接平仓·事件盘中 5pp 触发重评·删 cancel_autostop; q 校准移 Python; 选品硬超时熔断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30" b="0" i="0">
                          <a:solidFill>
                            <a:srgbClr val="222B36"/>
                          </a:solidFill>
                          <a:latin typeface="Helvetica Neue"/>
                          <a:ea typeface="PingFang SC"/>
                        </a:rPr>
                        <a:t>事件型深亏仓扛着不卖 = 最大亏损源 (Gemini −$2.6); GLM 调用挂死冻结整轮</a:t>
                      </a:r>
                    </a:p>
                  </a:txBody>
                  <a:tcPr anchor="ctr" marL="91440" marR="64008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02920" y="5806440"/>
            <a:ext cx="111858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600"/>
              </a:spcAft>
            </a:pPr>
            <a:r>
              <a:rPr sz="1160" b="1" i="0">
                <a:solidFill>
                  <a:srgbClr val="2E74B5"/>
                </a:solidFill>
                <a:latin typeface="Helvetica Neue"/>
                <a:ea typeface="PingFang SC"/>
              </a:rPr>
              <a:t>•  </a:t>
            </a:r>
            <a:r>
              <a:rPr sz="1160" b="1" i="0">
                <a:solidFill>
                  <a:srgbClr val="222B36"/>
                </a:solidFill>
                <a:latin typeface="Helvetica Neue"/>
                <a:ea typeface="PingFang SC"/>
              </a:rPr>
              <a:t>两条版本线分家: </a:t>
            </a:r>
            <a:r>
              <a:rPr sz="1160" b="0" i="0">
                <a:solidFill>
                  <a:srgbClr val="222B36"/>
                </a:solidFill>
                <a:latin typeface="Helvetica Neue"/>
                <a:ea typeface="PingFang SC"/>
              </a:rPr>
              <a:t>AUTO 从 v8.0.0 起走自己的号 (现 v8.3.2), 跟老项目 7.x 彻底分开 — 老项目再加东西不自动进这边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74320"/>
            <a:ext cx="77724" cy="42062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4088" y="109728"/>
            <a:ext cx="1118585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FB6D9"/>
                </a:solidFill>
                <a:latin typeface="Helvetica Neue"/>
                <a:ea typeface="PingFang SC"/>
              </a:rPr>
              <a:t>16 · 复盘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329184"/>
            <a:ext cx="1118585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150" b="1" i="0">
                <a:solidFill>
                  <a:srgbClr val="FFFFFF"/>
                </a:solidFill>
                <a:latin typeface="Helvetica Neue"/>
                <a:ea typeface="PingFang SC"/>
              </a:rPr>
              <a:t>踩过的坑 &amp; 诚实的现状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46520"/>
            <a:ext cx="11185855" cy="12801"/>
          </a:xfrm>
          <a:prstGeom prst="rect">
            <a:avLst/>
          </a:prstGeom>
          <a:solidFill>
            <a:srgbClr val="D5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3A3"/>
                </a:solidFill>
                <a:latin typeface="Helvetica Neue"/>
                <a:ea typeface="PingFang SC"/>
              </a:rPr>
              <a:t>Polymarket AUTO 全自动交易 · 项目分享 v8.5.3 · 2026-07-24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45575" y="6510528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A93A3"/>
                </a:solidFill>
                <a:latin typeface="Helvetica Neue"/>
                <a:ea typeface="PingFang SC"/>
              </a:rPr>
              <a:t>第 18 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097280"/>
            <a:ext cx="111858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100"/>
              </a:spcAft>
            </a:pPr>
            <a:r>
              <a:rPr sz="1230" b="1" i="0">
                <a:solidFill>
                  <a:srgbClr val="B3362B"/>
                </a:solidFill>
                <a:latin typeface="Helvetica Neue"/>
                <a:ea typeface="PingFang SC"/>
              </a:rPr>
              <a:t>①  </a:t>
            </a:r>
            <a:r>
              <a:rPr sz="1230" b="1" i="0">
                <a:solidFill>
                  <a:srgbClr val="222B36"/>
                </a:solidFill>
                <a:latin typeface="Helvetica Neue"/>
                <a:ea typeface="PingFang SC"/>
              </a:rPr>
              <a:t>[AUTO] 体育误买事故: </a:t>
            </a:r>
            <a:r>
              <a:rPr sz="1230" b="0" i="0">
                <a:solidFill>
                  <a:srgbClr val="222B36"/>
                </a:solidFill>
                <a:latin typeface="Helvetica Neue"/>
                <a:ea typeface="PingFang SC"/>
              </a:rPr>
              <a:t>一次 E2E 测试手动往系统注入了"法国进世界杯"市场, 被当真仓买了进去 → 立即清仓 + 加"白名单宇宙闸门"(只交易扫描报告里真实出现的市场, 永不为测试注入宇宙外市场)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100"/>
              </a:spcAft>
            </a:pPr>
            <a:r>
              <a:rPr sz="1230" b="1" i="0">
                <a:solidFill>
                  <a:srgbClr val="B3362B"/>
                </a:solidFill>
                <a:latin typeface="Helvetica Neue"/>
                <a:ea typeface="PingFang SC"/>
              </a:rPr>
              <a:t>②  </a:t>
            </a:r>
            <a:r>
              <a:rPr sz="1230" b="1" i="0">
                <a:solidFill>
                  <a:srgbClr val="222B36"/>
                </a:solidFill>
                <a:latin typeface="Helvetica Neue"/>
                <a:ea typeface="PingFang SC"/>
              </a:rPr>
              <a:t>[AUTO] sig=3 折腾一下午: </a:t>
            </a:r>
            <a:r>
              <a:rPr sz="1230" b="0" i="0">
                <a:solidFill>
                  <a:srgbClr val="222B36"/>
                </a:solidFill>
                <a:latin typeface="Helvetica Neue"/>
                <a:ea typeface="PingFang SC"/>
              </a:rPr>
              <a:t>新架构存款钱包账户, 签名类型用 1/2/0 一律余额 $0 + 下单报错 → 最终定位到必须 sig=3 (POLY_1271); 老账户是老架构 sig=1, 经验不能照搬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100"/>
              </a:spcAft>
            </a:pPr>
            <a:r>
              <a:rPr sz="1230" b="1" i="0">
                <a:solidFill>
                  <a:srgbClr val="B3362B"/>
                </a:solidFill>
                <a:latin typeface="Helvetica Neue"/>
                <a:ea typeface="PingFang SC"/>
              </a:rPr>
              <a:t>③  </a:t>
            </a:r>
            <a:r>
              <a:rPr sz="1230" b="1" i="0">
                <a:solidFill>
                  <a:srgbClr val="222B36"/>
                </a:solidFill>
                <a:latin typeface="Helvetica Neue"/>
                <a:ea typeface="PingFang SC"/>
              </a:rPr>
              <a:t>[AUTO] bitcoin-GTA 黑名单漏网: </a:t>
            </a:r>
            <a:r>
              <a:rPr sz="1230" b="0" i="0">
                <a:solidFill>
                  <a:srgbClr val="222B36"/>
                </a:solidFill>
                <a:latin typeface="Helvetica Neue"/>
                <a:ea typeface="PingFang SC"/>
              </a:rPr>
              <a:t>一个黑名单市场挂着白名单 tag 被放行买成真仓 → 关键词黑名单改成永远生效, 命中即强制进测试仓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100"/>
              </a:spcAft>
            </a:pPr>
            <a:r>
              <a:rPr sz="1230" b="1" i="0">
                <a:solidFill>
                  <a:srgbClr val="B3362B"/>
                </a:solidFill>
                <a:latin typeface="Helvetica Neue"/>
                <a:ea typeface="PingFang SC"/>
              </a:rPr>
              <a:t>④  </a:t>
            </a:r>
            <a:r>
              <a:rPr sz="1230" b="1" i="0">
                <a:solidFill>
                  <a:srgbClr val="222B36"/>
                </a:solidFill>
                <a:latin typeface="Helvetica Neue"/>
                <a:ea typeface="PingFang SC"/>
              </a:rPr>
              <a:t>[继承] 假止盈差点锁假胜利: </a:t>
            </a:r>
            <a:r>
              <a:rPr sz="1230" b="0" i="0">
                <a:solidFill>
                  <a:srgbClr val="222B36"/>
                </a:solidFill>
                <a:latin typeface="Helvetica Neue"/>
                <a:ea typeface="PingFang SC"/>
              </a:rPr>
              <a:t>参考价显示 $0.905, 盘口真实只能卖 $0.60 → 止盈一律看真实卖价 best_bid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1100"/>
              </a:spcAft>
            </a:pPr>
            <a:r>
              <a:rPr sz="1230" b="1" i="0">
                <a:solidFill>
                  <a:srgbClr val="B3362B"/>
                </a:solidFill>
                <a:latin typeface="Helvetica Neue"/>
                <a:ea typeface="PingFang SC"/>
              </a:rPr>
              <a:t>⑤  </a:t>
            </a:r>
            <a:r>
              <a:rPr sz="1230" b="1" i="0">
                <a:solidFill>
                  <a:srgbClr val="222B36"/>
                </a:solidFill>
                <a:latin typeface="Helvetica Neue"/>
                <a:ea typeface="PingFang SC"/>
              </a:rPr>
              <a:t>[继承] DNS 污染无声瘫痪: </a:t>
            </a:r>
            <a:r>
              <a:rPr sz="1230" b="0" i="0">
                <a:solidFill>
                  <a:srgbClr val="222B36"/>
                </a:solidFill>
                <a:latin typeface="Helvetica Neue"/>
                <a:ea typeface="PingFang SC"/>
              </a:rPr>
              <a:t>系统 DNS 把 polymarket 域名解析到假 IP, 全 bot 安静挂掉 → 进程内自带加密 DNS 兜底 (这段守卫永不删)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4480560"/>
            <a:ext cx="11185855" cy="1417320"/>
          </a:xfrm>
          <a:prstGeom prst="roundRect">
            <a:avLst>
              <a:gd name="adj" fmla="val 8000"/>
            </a:avLst>
          </a:prstGeom>
          <a:solidFill>
            <a:srgbClr val="FFF2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4562856"/>
            <a:ext cx="68580" cy="1252728"/>
          </a:xfrm>
          <a:prstGeom prst="rect">
            <a:avLst/>
          </a:prstGeom>
          <a:solidFill>
            <a:srgbClr val="8F62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2376" y="4572000"/>
            <a:ext cx="10801807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30" b="1" i="0">
                <a:solidFill>
                  <a:srgbClr val="8F6212"/>
                </a:solidFill>
                <a:latin typeface="Helvetica Neue"/>
                <a:ea typeface="PingFang SC"/>
              </a:rPr>
              <a:t>诚实的现状 (给熟人看就说实话)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140" b="0" i="0">
                <a:solidFill>
                  <a:srgbClr val="222B36"/>
                </a:solidFill>
                <a:latin typeface="Helvetica Neue"/>
                <a:ea typeface="PingFang SC"/>
              </a:rPr>
              <a:t>① 全自动真单跑了 16 天 (自 07-08), 62 笔平仓合计 −$3.03 (止盈 +$12.9 被止损/重评 −$15.9 抵掉) — 样本仍小、别当业绩, 证明的是"闭环无人干预跑通了"。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140" b="0" i="0">
                <a:solidFill>
                  <a:srgbClr val="222B36"/>
                </a:solidFill>
                <a:latin typeface="Helvetica Neue"/>
                <a:ea typeface="PingFang SC"/>
              </a:rPr>
              <a:t>② 最大的教训: 事件型深亏仓扛着不卖 (Gemini 0.68 烂到 0.16 才卖 −$2.6) → 07-18 收紧止损 (事件 -50% 硬止损、删 exit 护栏、收敛也直接平仓) 就是为治这个。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140" b="0" i="0">
                <a:solidFill>
                  <a:srgbClr val="222B36"/>
                </a:solidFill>
                <a:latin typeface="Helvetica Neue"/>
                <a:ea typeface="PingFang SC"/>
              </a:rPr>
              <a:t>③ 现已扩成【三账户同信号实验】: 主策略 (全套止盈止损重评) / bench 二号 (裸预测: $2/仓 -30%即卖 无重评) / shadow 三号 (低价≤0.40 拿到结算: $2/仓 -60%止损 不止盈) — 用真钱对照找最优出场。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"/>
              </a:spcAft>
            </a:pPr>
            <a:r>
              <a:rPr sz="1140" b="0" i="0">
                <a:solidFill>
                  <a:srgbClr val="222B36"/>
                </a:solidFill>
                <a:latin typeface="Helvetica Neue"/>
                <a:ea typeface="PingFang SC"/>
              </a:rPr>
              <a:t>④ 出场阈值还在拿真单攒数据校准、不是精调结果; 最值钱的产出可能不是这点钱, 是这套方法和一路踩坑的记录。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206240"/>
            <a:ext cx="12191695" cy="1828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80160"/>
            <a:ext cx="1118585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Helvetica Neue"/>
                <a:ea typeface="PingFang SC"/>
              </a:rPr>
              <a:t>想自己跑? 公开的半自动前身在这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148840"/>
            <a:ext cx="1118585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C9A227"/>
                </a:solidFill>
                <a:latin typeface="Menlo"/>
                <a:ea typeface="PingFang SC"/>
              </a:rPr>
              <a:t>github.com/RobinVico/polymarket-llm-trading-bot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834640"/>
            <a:ext cx="1118585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FB6D9"/>
                </a:solidFill>
                <a:latin typeface="Helvetica Neue"/>
                <a:ea typeface="PingFang SC"/>
              </a:rPr>
              <a:t>这份 deck 讲的"全自动版"是私有 fork; 公开可跑的是它的半自动前身 — 同一套策略内核 (出场/重评/sizing)。
含中英双语技术报告 (完整踩坑史) · README 一步步教装 · MIT 协议
密钥/数据库/真实账目都不在仓库里 — 填自己的钱包和密码就能跑起来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4572000"/>
            <a:ext cx="3582314" cy="960120"/>
          </a:xfrm>
          <a:prstGeom prst="roundRect">
            <a:avLst>
              <a:gd name="adj" fmla="val 12000"/>
            </a:avLst>
          </a:prstGeom>
          <a:solidFill>
            <a:srgbClr val="243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6072" y="4718304"/>
            <a:ext cx="343601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Helvetica Neue"/>
                <a:ea typeface="PingFang SC"/>
              </a:rPr>
              <a:t>别用输不起的钱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" y="5148072"/>
            <a:ext cx="343601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FB6D9"/>
                </a:solidFill>
                <a:latin typeface="Helvetica Neue"/>
                <a:ea typeface="PingFang SC"/>
              </a:rPr>
              <a:t>预测市场有法律与资金风险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04690" y="4572000"/>
            <a:ext cx="3582314" cy="960120"/>
          </a:xfrm>
          <a:prstGeom prst="roundRect">
            <a:avLst>
              <a:gd name="adj" fmla="val 12000"/>
            </a:avLst>
          </a:prstGeom>
          <a:solidFill>
            <a:srgbClr val="243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77842" y="4718304"/>
            <a:ext cx="343601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Helvetica Neue"/>
                <a:ea typeface="PingFang SC"/>
              </a:rPr>
              <a:t>先跑测试仓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77842" y="5148072"/>
            <a:ext cx="343601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FB6D9"/>
                </a:solidFill>
                <a:latin typeface="Helvetica Neue"/>
                <a:ea typeface="PingFang SC"/>
              </a:rPr>
              <a:t>零成本验证 AI 靠不靠谱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06460" y="4572000"/>
            <a:ext cx="3582314" cy="960120"/>
          </a:xfrm>
          <a:prstGeom prst="roundRect">
            <a:avLst>
              <a:gd name="adj" fmla="val 12000"/>
            </a:avLst>
          </a:prstGeom>
          <a:solidFill>
            <a:srgbClr val="243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79612" y="4718304"/>
            <a:ext cx="343601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Helvetica Neue"/>
                <a:ea typeface="PingFang SC"/>
              </a:rPr>
              <a:t>AI 是分析师, 不是神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9612" y="5148072"/>
            <a:ext cx="343601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FB6D9"/>
                </a:solidFill>
                <a:latin typeface="Helvetica Neue"/>
                <a:ea typeface="PingFang SC"/>
              </a:rPr>
              <a:t>纪律和风控才是主角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035040"/>
            <a:ext cx="111858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DA3C6"/>
                </a:solidFill>
                <a:latin typeface="Helvetica Neue"/>
                <a:ea typeface="PingFang SC"/>
              </a:rPr>
              <a:t>谢谢观看 · 2026-07-24 · AUTO v8.5.3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Polymarket AUTO 全自动交易 · 项目分享 v8.5.3</dc:title>
  <dc:subject/>
  <dc:creator>Polymarket AUTO Bot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